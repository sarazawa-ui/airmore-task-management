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進捗率</c:v>
                </c:pt>
              </c:strCache>
            </c:strRef>
          </c:tx>
          <c:spPr>
            <a:solidFill>
              <a:srgbClr val="1C5CAB"/>
            </a:solidFill>
            <a:effectLst/>
          </c:spPr>
          <c:invertIfNegative val="0"/>
          <c:dLbls>
            <c:numFmt formatCode="#,##0" sourceLinked="0"/>
            <c:txPr>
              <a:bodyPr/>
              <a:lstStyle/>
              <a:p>
                <a:pPr>
                  <a:defRPr b="0" i="0" strike="noStrike" sz="1100" u="none">
                    <a:solidFill>
                      <a:srgbClr val="0C2340"/>
                    </a:solidFill>
                    <a:latin typeface="Meiryo"/>
                  </a:defRPr>
                </a:pPr>
              </a:p>
            </c:txPr>
            <c:showLegendKey val="0"/>
            <c:showVal val="1"/>
            <c:showCatName val="0"/>
            <c:showSerName val="0"/>
            <c:showPercent val="0"/>
            <c:showBubbleSize val="0"/>
            <c:showLeaderLines val="0"/>
          </c:dLbls>
          <c:cat>
            <c:multiLvlStrRef>
              <c:f>Sheet1!$A$2:$A$6</c:f>
              <c:multiLvlStrCache>
                <c:ptCount val="5"/>
                <c:lvl>
                  <c:pt idx="0">
                    <c:v>A さん</c:v>
                  </c:pt>
                  <c:pt idx="1">
                    <c:v>B さん</c:v>
                  </c:pt>
                  <c:pt idx="2">
                    <c:v>C さん</c:v>
                  </c:pt>
                  <c:pt idx="3">
                    <c:v>D さん</c:v>
                  </c:pt>
                  <c:pt idx="4">
                    <c:v>E さん</c:v>
                  </c:pt>
                </c:lvl>
              </c:multiLvlStrCache>
            </c:multiLvlStrRef>
          </c:cat>
          <c:val>
            <c:numRef>
              <c:f>Sheet1!$B$2:$B$6</c:f>
              <c:numCache>
                <c:formatCode>General</c:formatCode>
                <c:ptCount val="5"/>
                <c:pt idx="0">
                  <c:v>88</c:v>
                </c:pt>
                <c:pt idx="1">
                  <c:v>76</c:v>
                </c:pt>
                <c:pt idx="2">
                  <c:v>64</c:v>
                </c:pt>
                <c:pt idx="3">
                  <c:v>92</c:v>
                </c:pt>
                <c:pt idx="4">
                  <c:v>58</c:v>
                </c:pt>
              </c:numCache>
            </c:numRef>
          </c:val>
        </c:ser>
        <c:dLbls>
          <c:numFmt formatCode="#,##0" sourceLinked="0"/>
          <c:txPr>
            <a:bodyPr/>
            <a:lstStyle/>
            <a:p>
              <a:pPr>
                <a:defRPr b="0" i="0" strike="noStrike" sz="1100" u="none">
                  <a:solidFill>
                    <a:srgbClr val="0C2340"/>
                  </a:solidFill>
                  <a:latin typeface="Meiryo"/>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80"/>
                </a:solidFill>
                <a:latin typeface="Meiryo"/>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3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80"/>
                </a:solidFill>
                <a:latin typeface="Meiryo"/>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表紙。日付と提出先名を差し替えてください。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章立てのテンプレート。項目数は2列×3行を上限に調整してください。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章扉テンプレート。章番号・章名・リード文を差し替えて各章の頭に複製してください。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3カード型。件数を変える場合は cw の割り算を2または4に変更。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左に主張、右にビジュアルの2カラム型。右側は実画面のスクリーンショットに差し替えても可。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2×3のアイコンカード型。機能数が4つなら2×2、8つなら4×2に組み替え。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画像＋補足3点型。左のプレースホルダーを実際のスクリーンショットに差し替えてください。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大きな数値コールアウト型。数値は必ず出典・算定根拠を確認してから使用してください。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グラフ＋示唆の型。グラフは必ず「そこから何が言えるか」を右側に言語化してください。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4ステップのフロー型。ステップ数を変える場合は cw の割り算を変更。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3プラン比較型。中央を強調色にして推奨プランを示しています。金額は必ず確認のうえ差し替えを。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比較表の型。他社名を明記する場合は事実確認と表現の妥当性を必ず確認してください。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お客様の声は必ず本人の掲載許可を取得してから使用してください。未取得の場合はこのスライドを削除。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まとめは3点に絞る。最後に必ず「次に何をするか」を1行で置いてください。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裏表紙。連絡先を差し替えてください。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640080" y="1417320"/>
            <a:ext cx="2926080" cy="2926080"/>
          </a:xfrm>
          <a:prstGeom prst="roundRect">
            <a:avLst>
              <a:gd name="adj" fmla="val 6250"/>
            </a:avLst>
          </a:prstGeom>
          <a:solidFill>
            <a:srgbClr val="FFFFFF"/>
          </a:solidFill>
          <a:ln w="12700">
            <a:solidFill>
              <a:srgbClr val="FFFFFF"/>
            </a:solidFill>
            <a:prstDash val="solid"/>
          </a:ln>
        </p:spPr>
      </p:sp>
      <p:pic>
        <p:nvPicPr>
          <p:cNvPr id="3" name="Image 0" descr="/tmp/claude-0/-home-claude/c8a85aae-e364-55a6-a691-56cfb36bc444/scratchpad/hittatsu-deck/Hittatsu_Logo.png">    </p:cNvPr>
          <p:cNvPicPr>
            <a:picLocks noChangeAspect="1"/>
          </p:cNvPicPr>
          <p:nvPr/>
        </p:nvPicPr>
        <p:blipFill>
          <a:blip r:embed="rId1"/>
          <a:stretch>
            <a:fillRect/>
          </a:stretch>
        </p:blipFill>
        <p:spPr>
          <a:xfrm>
            <a:off x="896112" y="2514600"/>
            <a:ext cx="2414016" cy="777240"/>
          </a:xfrm>
          <a:prstGeom prst="rect">
            <a:avLst/>
          </a:prstGeom>
        </p:spPr>
      </p:pic>
      <p:sp>
        <p:nvSpPr>
          <p:cNvPr id="4" name="Text 1"/>
          <p:cNvSpPr txBox="1"/>
          <p:nvPr/>
        </p:nvSpPr>
        <p:spPr>
          <a:xfrm>
            <a:off x="4114800" y="1600200"/>
            <a:ext cx="7406640" cy="457200"/>
          </a:xfrm>
          <a:prstGeom prst="rect">
            <a:avLst/>
          </a:prstGeom>
          <a:noFill/>
          <a:ln/>
        </p:spPr>
        <p:txBody>
          <a:bodyPr wrap="square" lIns="0" tIns="0" rIns="0" bIns="0" rtlCol="0" anchor="ctr"/>
          <a:lstStyle/>
          <a:p>
            <a:pPr indent="0" marL="0">
              <a:buNone/>
            </a:pPr>
            <a:r>
              <a:rPr lang="en-US" sz="1500" dirty="0">
                <a:solidFill>
                  <a:srgbClr val="9FB8D8"/>
                </a:solidFill>
                <a:latin typeface="Meiryo" pitchFamily="34" charset="0"/>
                <a:ea typeface="Meiryo" pitchFamily="34" charset="-122"/>
                <a:cs typeface="Meiryo" pitchFamily="34" charset="-120"/>
              </a:rPr>
              <a:t>チームの進捗が、ひと目で伝わる。</a:t>
            </a:r>
            <a:endParaRPr lang="en-US" sz="1500" dirty="0"/>
          </a:p>
        </p:txBody>
      </p:sp>
      <p:sp>
        <p:nvSpPr>
          <p:cNvPr id="5" name="Text 2"/>
          <p:cNvSpPr txBox="1"/>
          <p:nvPr/>
        </p:nvSpPr>
        <p:spPr>
          <a:xfrm>
            <a:off x="4114800" y="2057400"/>
            <a:ext cx="7406640" cy="914400"/>
          </a:xfrm>
          <a:prstGeom prst="rect">
            <a:avLst/>
          </a:prstGeom>
          <a:noFill/>
          <a:ln/>
        </p:spPr>
        <p:txBody>
          <a:bodyPr wrap="square" lIns="0" tIns="0" rIns="0" bIns="0" rtlCol="0" anchor="ctr"/>
          <a:lstStyle/>
          <a:p>
            <a:pPr indent="0" marL="0">
              <a:buNone/>
            </a:pPr>
            <a:r>
              <a:rPr lang="en-US" sz="5400" b="1" spc="-100" kern="0" dirty="0">
                <a:solidFill>
                  <a:srgbClr val="FFFFFF"/>
                </a:solidFill>
                <a:latin typeface="Meiryo" pitchFamily="34" charset="0"/>
                <a:ea typeface="Meiryo" pitchFamily="34" charset="-122"/>
                <a:cs typeface="Meiryo" pitchFamily="34" charset="-120"/>
              </a:rPr>
              <a:t>Hittatsu</a:t>
            </a:r>
            <a:endParaRPr lang="en-US" sz="5400" dirty="0"/>
          </a:p>
        </p:txBody>
      </p:sp>
      <p:sp>
        <p:nvSpPr>
          <p:cNvPr id="6" name="Text 3"/>
          <p:cNvSpPr txBox="1"/>
          <p:nvPr/>
        </p:nvSpPr>
        <p:spPr>
          <a:xfrm>
            <a:off x="4114800" y="3063240"/>
            <a:ext cx="7406640" cy="914400"/>
          </a:xfrm>
          <a:prstGeom prst="rect">
            <a:avLst/>
          </a:prstGeom>
          <a:noFill/>
          <a:ln/>
        </p:spPr>
        <p:txBody>
          <a:bodyPr wrap="square" lIns="0" tIns="0" rIns="0" bIns="0" rtlCol="0" anchor="ctr"/>
          <a:lstStyle/>
          <a:p>
            <a:pPr indent="0" marL="0">
              <a:lnSpc>
                <a:spcPts val="3000"/>
              </a:lnSpc>
              <a:buNone/>
            </a:pPr>
            <a:r>
              <a:rPr lang="en-US" sz="2000" dirty="0">
                <a:solidFill>
                  <a:srgbClr val="DBE7F5"/>
                </a:solidFill>
                <a:latin typeface="Meiryo" pitchFamily="34" charset="0"/>
                <a:ea typeface="Meiryo" pitchFamily="34" charset="-122"/>
                <a:cs typeface="Meiryo" pitchFamily="34" charset="-120"/>
              </a:rPr>
              <a:t>プロジェクト・タスク管理クラウド</a:t>
            </a:r>
            <a:endParaRPr lang="en-US" sz="2000" dirty="0"/>
          </a:p>
          <a:p>
            <a:pPr indent="0" marL="0">
              <a:lnSpc>
                <a:spcPts val="3000"/>
              </a:lnSpc>
              <a:buNone/>
            </a:pPr>
            <a:r>
              <a:rPr lang="en-US" sz="2000" dirty="0">
                <a:solidFill>
                  <a:srgbClr val="DBE7F5"/>
                </a:solidFill>
                <a:latin typeface="Meiryo" pitchFamily="34" charset="0"/>
                <a:ea typeface="Meiryo" pitchFamily="34" charset="-122"/>
                <a:cs typeface="Meiryo" pitchFamily="34" charset="-120"/>
              </a:rPr>
              <a:t>ご紹介資料</a:t>
            </a:r>
            <a:endParaRPr lang="en-US" sz="2000" dirty="0"/>
          </a:p>
        </p:txBody>
      </p:sp>
      <p:sp>
        <p:nvSpPr>
          <p:cNvPr id="7" name="Text 4"/>
          <p:cNvSpPr txBox="1"/>
          <p:nvPr/>
        </p:nvSpPr>
        <p:spPr>
          <a:xfrm>
            <a:off x="4114800" y="4069080"/>
            <a:ext cx="7406640" cy="320040"/>
          </a:xfrm>
          <a:prstGeom prst="rect">
            <a:avLst/>
          </a:prstGeom>
          <a:noFill/>
          <a:ln/>
        </p:spPr>
        <p:txBody>
          <a:bodyPr wrap="square" lIns="0" tIns="0" rIns="0" bIns="0" rtlCol="0" anchor="ctr"/>
          <a:lstStyle/>
          <a:p>
            <a:pPr indent="0" marL="0">
              <a:buNone/>
            </a:pPr>
            <a:r>
              <a:rPr lang="en-US" sz="1200" dirty="0">
                <a:solidFill>
                  <a:srgbClr val="7E96B8"/>
                </a:solidFill>
                <a:latin typeface="Meiryo" pitchFamily="34" charset="0"/>
                <a:ea typeface="Meiryo" pitchFamily="34" charset="-122"/>
                <a:cs typeface="Meiryo" pitchFamily="34" charset="-120"/>
              </a:rPr>
              <a:t>2026年●月●日 / 株式会社エアモア</a:t>
            </a:r>
            <a:endParaRPr lang="en-US" sz="1200" dirty="0"/>
          </a:p>
        </p:txBody>
      </p:sp>
      <p:pic>
        <p:nvPicPr>
          <p:cNvPr id="8" name="Image 1" descr="/tmp/claude-0/-home-claude/c8a85aae-e364-55a6-a691-56cfb36bc444/scratchpad/hittatsu-deck/airmore-logo-white.png">    </p:cNvPr>
          <p:cNvPicPr>
            <a:picLocks noChangeAspect="1"/>
          </p:cNvPicPr>
          <p:nvPr/>
        </p:nvPicPr>
        <p:blipFill>
          <a:blip r:embed="rId2"/>
          <a:stretch>
            <a:fillRect/>
          </a:stretch>
        </p:blipFill>
        <p:spPr>
          <a:xfrm>
            <a:off x="9814255" y="5897880"/>
            <a:ext cx="1737360" cy="3840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566928"/>
          </a:xfrm>
          <a:prstGeom prst="rect">
            <a:avLst/>
          </a:prstGeom>
          <a:noFill/>
          <a:ln/>
        </p:spPr>
        <p:txBody>
          <a:bodyPr wrap="square" lIns="0" tIns="0" rIns="0" bIns="0" rtlCol="0" anchor="ctr"/>
          <a:lstStyle/>
          <a:p>
            <a:pPr indent="0" marL="0">
              <a:buNone/>
            </a:pPr>
            <a:r>
              <a:rPr lang="en-US" sz="3000" b="1" dirty="0">
                <a:solidFill>
                  <a:srgbClr val="0C2340"/>
                </a:solidFill>
                <a:latin typeface="Meiryo" pitchFamily="34" charset="0"/>
                <a:ea typeface="Meiryo" pitchFamily="34" charset="-122"/>
                <a:cs typeface="Meiryo" pitchFamily="34" charset="-120"/>
              </a:rPr>
              <a:t>本日のご説明内容</a:t>
            </a:r>
            <a:endParaRPr lang="en-US" sz="3000" dirty="0"/>
          </a:p>
        </p:txBody>
      </p:sp>
      <p:sp>
        <p:nvSpPr>
          <p:cNvPr id="3" name="Text 1"/>
          <p:cNvSpPr txBox="1"/>
          <p:nvPr/>
        </p:nvSpPr>
        <p:spPr>
          <a:xfrm>
            <a:off x="640080" y="1078992"/>
            <a:ext cx="10911535" cy="329184"/>
          </a:xfrm>
          <a:prstGeom prst="rect">
            <a:avLst/>
          </a:prstGeom>
          <a:noFill/>
          <a:ln/>
        </p:spPr>
        <p:txBody>
          <a:bodyPr wrap="square" lIns="0" tIns="0" rIns="0" bIns="0" rtlCol="0" anchor="ctr"/>
          <a:lstStyle/>
          <a:p>
            <a:pPr indent="0" marL="0">
              <a:buNone/>
            </a:pPr>
            <a:r>
              <a:rPr lang="en-US" sz="1300" dirty="0">
                <a:solidFill>
                  <a:srgbClr val="5A6B80"/>
                </a:solidFill>
                <a:latin typeface="Meiryo" pitchFamily="34" charset="0"/>
                <a:ea typeface="Meiryo" pitchFamily="34" charset="-122"/>
                <a:cs typeface="Meiryo" pitchFamily="34" charset="-120"/>
              </a:rPr>
              <a:t>AGENDA</a:t>
            </a:r>
            <a:endParaRPr lang="en-US" sz="1300" dirty="0"/>
          </a:p>
        </p:txBody>
      </p:sp>
      <p:sp>
        <p:nvSpPr>
          <p:cNvPr id="4" name="Shape 2"/>
          <p:cNvSpPr/>
          <p:nvPr/>
        </p:nvSpPr>
        <p:spPr>
          <a:xfrm>
            <a:off x="640080" y="1874520"/>
            <a:ext cx="5318608" cy="1097280"/>
          </a:xfrm>
          <a:prstGeom prst="roundRect">
            <a:avLst>
              <a:gd name="adj" fmla="val 10000"/>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5" name="Shape 3"/>
          <p:cNvSpPr/>
          <p:nvPr/>
        </p:nvSpPr>
        <p:spPr>
          <a:xfrm>
            <a:off x="914400" y="2148840"/>
            <a:ext cx="548640" cy="548640"/>
          </a:xfrm>
          <a:prstGeom prst="ellipse">
            <a:avLst/>
          </a:prstGeom>
          <a:solidFill>
            <a:srgbClr val="EEF3FA"/>
          </a:solidFill>
          <a:ln w="12700">
            <a:solidFill>
              <a:srgbClr val="DBE7F5"/>
            </a:solidFill>
            <a:prstDash val="solid"/>
          </a:ln>
        </p:spPr>
      </p:sp>
      <p:sp>
        <p:nvSpPr>
          <p:cNvPr id="6" name="Text 4"/>
          <p:cNvSpPr txBox="1"/>
          <p:nvPr/>
        </p:nvSpPr>
        <p:spPr>
          <a:xfrm>
            <a:off x="914400" y="2148840"/>
            <a:ext cx="548640" cy="548640"/>
          </a:xfrm>
          <a:prstGeom prst="rect">
            <a:avLst/>
          </a:prstGeom>
          <a:noFill/>
          <a:ln/>
        </p:spPr>
        <p:txBody>
          <a:bodyPr wrap="square" lIns="0" tIns="0" rIns="0" bIns="0" rtlCol="0" anchor="ctr"/>
          <a:lstStyle/>
          <a:p>
            <a:pPr algn="ctr" indent="0" marL="0">
              <a:buNone/>
            </a:pPr>
            <a:r>
              <a:rPr lang="en-US" sz="1400" b="1" dirty="0">
                <a:solidFill>
                  <a:srgbClr val="1C5CAB"/>
                </a:solidFill>
                <a:latin typeface="Meiryo" pitchFamily="34" charset="0"/>
                <a:ea typeface="Meiryo" pitchFamily="34" charset="-122"/>
                <a:cs typeface="Meiryo" pitchFamily="34" charset="-120"/>
              </a:rPr>
              <a:t>01</a:t>
            </a:r>
            <a:endParaRPr lang="en-US" sz="1400" dirty="0"/>
          </a:p>
        </p:txBody>
      </p:sp>
      <p:sp>
        <p:nvSpPr>
          <p:cNvPr id="7" name="Text 5"/>
          <p:cNvSpPr txBox="1"/>
          <p:nvPr/>
        </p:nvSpPr>
        <p:spPr>
          <a:xfrm>
            <a:off x="1600200" y="2130552"/>
            <a:ext cx="4084168" cy="310896"/>
          </a:xfrm>
          <a:prstGeom prst="rect">
            <a:avLst/>
          </a:prstGeom>
          <a:noFill/>
          <a:ln/>
        </p:spPr>
        <p:txBody>
          <a:bodyPr wrap="square" lIns="0" tIns="0" rIns="0" bIns="0" rtlCol="0" anchor="ctr"/>
          <a:lstStyle/>
          <a:p>
            <a:pPr indent="0" marL="0">
              <a:buNone/>
            </a:pPr>
            <a:r>
              <a:rPr lang="en-US" sz="1600" b="1" dirty="0">
                <a:solidFill>
                  <a:srgbClr val="0C2340"/>
                </a:solidFill>
                <a:latin typeface="Meiryo" pitchFamily="34" charset="0"/>
                <a:ea typeface="Meiryo" pitchFamily="34" charset="-122"/>
                <a:cs typeface="Meiryo" pitchFamily="34" charset="-120"/>
              </a:rPr>
              <a:t>課題</a:t>
            </a:r>
            <a:endParaRPr lang="en-US" sz="1600" dirty="0"/>
          </a:p>
        </p:txBody>
      </p:sp>
      <p:sp>
        <p:nvSpPr>
          <p:cNvPr id="8" name="Text 6"/>
          <p:cNvSpPr txBox="1"/>
          <p:nvPr/>
        </p:nvSpPr>
        <p:spPr>
          <a:xfrm>
            <a:off x="1600200" y="2441448"/>
            <a:ext cx="4084168" cy="292608"/>
          </a:xfrm>
          <a:prstGeom prst="rect">
            <a:avLst/>
          </a:prstGeom>
          <a:noFill/>
          <a:ln/>
        </p:spPr>
        <p:txBody>
          <a:bodyPr wrap="square" lIns="0" tIns="0" rIns="0" bIns="0" rtlCol="0" anchor="ctr"/>
          <a:lstStyle/>
          <a:p>
            <a:pPr indent="0" marL="0">
              <a:buNone/>
            </a:pPr>
            <a:r>
              <a:rPr lang="en-US" sz="1200" dirty="0">
                <a:solidFill>
                  <a:srgbClr val="5A6B80"/>
                </a:solidFill>
                <a:latin typeface="Meiryo" pitchFamily="34" charset="0"/>
                <a:ea typeface="Meiryo" pitchFamily="34" charset="-122"/>
                <a:cs typeface="Meiryo" pitchFamily="34" charset="-120"/>
              </a:rPr>
              <a:t>属人化するタスク管理の現状</a:t>
            </a:r>
            <a:endParaRPr lang="en-US" sz="1200" dirty="0"/>
          </a:p>
        </p:txBody>
      </p:sp>
      <p:sp>
        <p:nvSpPr>
          <p:cNvPr id="9" name="Shape 7"/>
          <p:cNvSpPr/>
          <p:nvPr/>
        </p:nvSpPr>
        <p:spPr>
          <a:xfrm>
            <a:off x="6233008" y="1874520"/>
            <a:ext cx="5318608" cy="1097280"/>
          </a:xfrm>
          <a:prstGeom prst="roundRect">
            <a:avLst>
              <a:gd name="adj" fmla="val 10000"/>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0" name="Shape 8"/>
          <p:cNvSpPr/>
          <p:nvPr/>
        </p:nvSpPr>
        <p:spPr>
          <a:xfrm>
            <a:off x="6507328" y="2148840"/>
            <a:ext cx="548640" cy="548640"/>
          </a:xfrm>
          <a:prstGeom prst="ellipse">
            <a:avLst/>
          </a:prstGeom>
          <a:solidFill>
            <a:srgbClr val="EEF3FA"/>
          </a:solidFill>
          <a:ln w="12700">
            <a:solidFill>
              <a:srgbClr val="DBE7F5"/>
            </a:solidFill>
            <a:prstDash val="solid"/>
          </a:ln>
        </p:spPr>
      </p:sp>
      <p:sp>
        <p:nvSpPr>
          <p:cNvPr id="11" name="Text 9"/>
          <p:cNvSpPr txBox="1"/>
          <p:nvPr/>
        </p:nvSpPr>
        <p:spPr>
          <a:xfrm>
            <a:off x="6507328" y="2148840"/>
            <a:ext cx="548640" cy="548640"/>
          </a:xfrm>
          <a:prstGeom prst="rect">
            <a:avLst/>
          </a:prstGeom>
          <a:noFill/>
          <a:ln/>
        </p:spPr>
        <p:txBody>
          <a:bodyPr wrap="square" lIns="0" tIns="0" rIns="0" bIns="0" rtlCol="0" anchor="ctr"/>
          <a:lstStyle/>
          <a:p>
            <a:pPr algn="ctr" indent="0" marL="0">
              <a:buNone/>
            </a:pPr>
            <a:r>
              <a:rPr lang="en-US" sz="1400" b="1" dirty="0">
                <a:solidFill>
                  <a:srgbClr val="1C5CAB"/>
                </a:solidFill>
                <a:latin typeface="Meiryo" pitchFamily="34" charset="0"/>
                <a:ea typeface="Meiryo" pitchFamily="34" charset="-122"/>
                <a:cs typeface="Meiryo" pitchFamily="34" charset="-120"/>
              </a:rPr>
              <a:t>02</a:t>
            </a:r>
            <a:endParaRPr lang="en-US" sz="1400" dirty="0"/>
          </a:p>
        </p:txBody>
      </p:sp>
      <p:sp>
        <p:nvSpPr>
          <p:cNvPr id="12" name="Text 10"/>
          <p:cNvSpPr txBox="1"/>
          <p:nvPr/>
        </p:nvSpPr>
        <p:spPr>
          <a:xfrm>
            <a:off x="7193128" y="2130552"/>
            <a:ext cx="4084168" cy="310896"/>
          </a:xfrm>
          <a:prstGeom prst="rect">
            <a:avLst/>
          </a:prstGeom>
          <a:noFill/>
          <a:ln/>
        </p:spPr>
        <p:txBody>
          <a:bodyPr wrap="square" lIns="0" tIns="0" rIns="0" bIns="0" rtlCol="0" anchor="ctr"/>
          <a:lstStyle/>
          <a:p>
            <a:pPr indent="0" marL="0">
              <a:buNone/>
            </a:pPr>
            <a:r>
              <a:rPr lang="en-US" sz="1600" b="1" dirty="0">
                <a:solidFill>
                  <a:srgbClr val="0C2340"/>
                </a:solidFill>
                <a:latin typeface="Meiryo" pitchFamily="34" charset="0"/>
                <a:ea typeface="Meiryo" pitchFamily="34" charset="-122"/>
                <a:cs typeface="Meiryo" pitchFamily="34" charset="-120"/>
              </a:rPr>
              <a:t>Hittatsu とは</a:t>
            </a:r>
            <a:endParaRPr lang="en-US" sz="1600" dirty="0"/>
          </a:p>
        </p:txBody>
      </p:sp>
      <p:sp>
        <p:nvSpPr>
          <p:cNvPr id="13" name="Text 11"/>
          <p:cNvSpPr txBox="1"/>
          <p:nvPr/>
        </p:nvSpPr>
        <p:spPr>
          <a:xfrm>
            <a:off x="7193128" y="2441448"/>
            <a:ext cx="4084168" cy="292608"/>
          </a:xfrm>
          <a:prstGeom prst="rect">
            <a:avLst/>
          </a:prstGeom>
          <a:noFill/>
          <a:ln/>
        </p:spPr>
        <p:txBody>
          <a:bodyPr wrap="square" lIns="0" tIns="0" rIns="0" bIns="0" rtlCol="0" anchor="ctr"/>
          <a:lstStyle/>
          <a:p>
            <a:pPr indent="0" marL="0">
              <a:buNone/>
            </a:pPr>
            <a:r>
              <a:rPr lang="en-US" sz="1200" dirty="0">
                <a:solidFill>
                  <a:srgbClr val="5A6B80"/>
                </a:solidFill>
                <a:latin typeface="Meiryo" pitchFamily="34" charset="0"/>
                <a:ea typeface="Meiryo" pitchFamily="34" charset="-122"/>
                <a:cs typeface="Meiryo" pitchFamily="34" charset="-120"/>
              </a:rPr>
              <a:t>解決するアプローチ</a:t>
            </a:r>
            <a:endParaRPr lang="en-US" sz="1200" dirty="0"/>
          </a:p>
        </p:txBody>
      </p:sp>
      <p:sp>
        <p:nvSpPr>
          <p:cNvPr id="14" name="Shape 12"/>
          <p:cNvSpPr/>
          <p:nvPr/>
        </p:nvSpPr>
        <p:spPr>
          <a:xfrm>
            <a:off x="640080" y="3200400"/>
            <a:ext cx="5318608" cy="1097280"/>
          </a:xfrm>
          <a:prstGeom prst="roundRect">
            <a:avLst>
              <a:gd name="adj" fmla="val 10000"/>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5" name="Shape 13"/>
          <p:cNvSpPr/>
          <p:nvPr/>
        </p:nvSpPr>
        <p:spPr>
          <a:xfrm>
            <a:off x="914400" y="3474720"/>
            <a:ext cx="548640" cy="548640"/>
          </a:xfrm>
          <a:prstGeom prst="ellipse">
            <a:avLst/>
          </a:prstGeom>
          <a:solidFill>
            <a:srgbClr val="EEF3FA"/>
          </a:solidFill>
          <a:ln w="12700">
            <a:solidFill>
              <a:srgbClr val="DBE7F5"/>
            </a:solidFill>
            <a:prstDash val="solid"/>
          </a:ln>
        </p:spPr>
      </p:sp>
      <p:sp>
        <p:nvSpPr>
          <p:cNvPr id="16" name="Text 14"/>
          <p:cNvSpPr txBox="1"/>
          <p:nvPr/>
        </p:nvSpPr>
        <p:spPr>
          <a:xfrm>
            <a:off x="914400" y="3474720"/>
            <a:ext cx="548640" cy="548640"/>
          </a:xfrm>
          <a:prstGeom prst="rect">
            <a:avLst/>
          </a:prstGeom>
          <a:noFill/>
          <a:ln/>
        </p:spPr>
        <p:txBody>
          <a:bodyPr wrap="square" lIns="0" tIns="0" rIns="0" bIns="0" rtlCol="0" anchor="ctr"/>
          <a:lstStyle/>
          <a:p>
            <a:pPr algn="ctr" indent="0" marL="0">
              <a:buNone/>
            </a:pPr>
            <a:r>
              <a:rPr lang="en-US" sz="1400" b="1" dirty="0">
                <a:solidFill>
                  <a:srgbClr val="1C5CAB"/>
                </a:solidFill>
                <a:latin typeface="Meiryo" pitchFamily="34" charset="0"/>
                <a:ea typeface="Meiryo" pitchFamily="34" charset="-122"/>
                <a:cs typeface="Meiryo" pitchFamily="34" charset="-120"/>
              </a:rPr>
              <a:t>03</a:t>
            </a:r>
            <a:endParaRPr lang="en-US" sz="1400" dirty="0"/>
          </a:p>
        </p:txBody>
      </p:sp>
      <p:sp>
        <p:nvSpPr>
          <p:cNvPr id="17" name="Text 15"/>
          <p:cNvSpPr txBox="1"/>
          <p:nvPr/>
        </p:nvSpPr>
        <p:spPr>
          <a:xfrm>
            <a:off x="1600200" y="3456432"/>
            <a:ext cx="4084168" cy="310896"/>
          </a:xfrm>
          <a:prstGeom prst="rect">
            <a:avLst/>
          </a:prstGeom>
          <a:noFill/>
          <a:ln/>
        </p:spPr>
        <p:txBody>
          <a:bodyPr wrap="square" lIns="0" tIns="0" rIns="0" bIns="0" rtlCol="0" anchor="ctr"/>
          <a:lstStyle/>
          <a:p>
            <a:pPr indent="0" marL="0">
              <a:buNone/>
            </a:pPr>
            <a:r>
              <a:rPr lang="en-US" sz="1600" b="1" dirty="0">
                <a:solidFill>
                  <a:srgbClr val="0C2340"/>
                </a:solidFill>
                <a:latin typeface="Meiryo" pitchFamily="34" charset="0"/>
                <a:ea typeface="Meiryo" pitchFamily="34" charset="-122"/>
                <a:cs typeface="Meiryo" pitchFamily="34" charset="-120"/>
              </a:rPr>
              <a:t>主要機能</a:t>
            </a:r>
            <a:endParaRPr lang="en-US" sz="1600" dirty="0"/>
          </a:p>
        </p:txBody>
      </p:sp>
      <p:sp>
        <p:nvSpPr>
          <p:cNvPr id="18" name="Text 16"/>
          <p:cNvSpPr txBox="1"/>
          <p:nvPr/>
        </p:nvSpPr>
        <p:spPr>
          <a:xfrm>
            <a:off x="1600200" y="3767328"/>
            <a:ext cx="4084168" cy="292608"/>
          </a:xfrm>
          <a:prstGeom prst="rect">
            <a:avLst/>
          </a:prstGeom>
          <a:noFill/>
          <a:ln/>
        </p:spPr>
        <p:txBody>
          <a:bodyPr wrap="square" lIns="0" tIns="0" rIns="0" bIns="0" rtlCol="0" anchor="ctr"/>
          <a:lstStyle/>
          <a:p>
            <a:pPr indent="0" marL="0">
              <a:buNone/>
            </a:pPr>
            <a:r>
              <a:rPr lang="en-US" sz="1200" dirty="0">
                <a:solidFill>
                  <a:srgbClr val="5A6B80"/>
                </a:solidFill>
                <a:latin typeface="Meiryo" pitchFamily="34" charset="0"/>
                <a:ea typeface="Meiryo" pitchFamily="34" charset="-122"/>
                <a:cs typeface="Meiryo" pitchFamily="34" charset="-120"/>
              </a:rPr>
              <a:t>4つの画面でチームを回す</a:t>
            </a:r>
            <a:endParaRPr lang="en-US" sz="1200" dirty="0"/>
          </a:p>
        </p:txBody>
      </p:sp>
      <p:sp>
        <p:nvSpPr>
          <p:cNvPr id="19" name="Shape 17"/>
          <p:cNvSpPr/>
          <p:nvPr/>
        </p:nvSpPr>
        <p:spPr>
          <a:xfrm>
            <a:off x="6233008" y="3200400"/>
            <a:ext cx="5318608" cy="1097280"/>
          </a:xfrm>
          <a:prstGeom prst="roundRect">
            <a:avLst>
              <a:gd name="adj" fmla="val 10000"/>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20" name="Shape 18"/>
          <p:cNvSpPr/>
          <p:nvPr/>
        </p:nvSpPr>
        <p:spPr>
          <a:xfrm>
            <a:off x="6507328" y="3474720"/>
            <a:ext cx="548640" cy="548640"/>
          </a:xfrm>
          <a:prstGeom prst="ellipse">
            <a:avLst/>
          </a:prstGeom>
          <a:solidFill>
            <a:srgbClr val="EEF3FA"/>
          </a:solidFill>
          <a:ln w="12700">
            <a:solidFill>
              <a:srgbClr val="DBE7F5"/>
            </a:solidFill>
            <a:prstDash val="solid"/>
          </a:ln>
        </p:spPr>
      </p:sp>
      <p:sp>
        <p:nvSpPr>
          <p:cNvPr id="21" name="Text 19"/>
          <p:cNvSpPr txBox="1"/>
          <p:nvPr/>
        </p:nvSpPr>
        <p:spPr>
          <a:xfrm>
            <a:off x="6507328" y="3474720"/>
            <a:ext cx="548640" cy="548640"/>
          </a:xfrm>
          <a:prstGeom prst="rect">
            <a:avLst/>
          </a:prstGeom>
          <a:noFill/>
          <a:ln/>
        </p:spPr>
        <p:txBody>
          <a:bodyPr wrap="square" lIns="0" tIns="0" rIns="0" bIns="0" rtlCol="0" anchor="ctr"/>
          <a:lstStyle/>
          <a:p>
            <a:pPr algn="ctr" indent="0" marL="0">
              <a:buNone/>
            </a:pPr>
            <a:r>
              <a:rPr lang="en-US" sz="1400" b="1" dirty="0">
                <a:solidFill>
                  <a:srgbClr val="1C5CAB"/>
                </a:solidFill>
                <a:latin typeface="Meiryo" pitchFamily="34" charset="0"/>
                <a:ea typeface="Meiryo" pitchFamily="34" charset="-122"/>
                <a:cs typeface="Meiryo" pitchFamily="34" charset="-120"/>
              </a:rPr>
              <a:t>04</a:t>
            </a:r>
            <a:endParaRPr lang="en-US" sz="1400" dirty="0"/>
          </a:p>
        </p:txBody>
      </p:sp>
      <p:sp>
        <p:nvSpPr>
          <p:cNvPr id="22" name="Text 20"/>
          <p:cNvSpPr txBox="1"/>
          <p:nvPr/>
        </p:nvSpPr>
        <p:spPr>
          <a:xfrm>
            <a:off x="7193128" y="3456432"/>
            <a:ext cx="4084168" cy="310896"/>
          </a:xfrm>
          <a:prstGeom prst="rect">
            <a:avLst/>
          </a:prstGeom>
          <a:noFill/>
          <a:ln/>
        </p:spPr>
        <p:txBody>
          <a:bodyPr wrap="square" lIns="0" tIns="0" rIns="0" bIns="0" rtlCol="0" anchor="ctr"/>
          <a:lstStyle/>
          <a:p>
            <a:pPr indent="0" marL="0">
              <a:buNone/>
            </a:pPr>
            <a:r>
              <a:rPr lang="en-US" sz="1600" b="1" dirty="0">
                <a:solidFill>
                  <a:srgbClr val="0C2340"/>
                </a:solidFill>
                <a:latin typeface="Meiryo" pitchFamily="34" charset="0"/>
                <a:ea typeface="Meiryo" pitchFamily="34" charset="-122"/>
                <a:cs typeface="Meiryo" pitchFamily="34" charset="-120"/>
              </a:rPr>
              <a:t>導入効果</a:t>
            </a:r>
            <a:endParaRPr lang="en-US" sz="1600" dirty="0"/>
          </a:p>
        </p:txBody>
      </p:sp>
      <p:sp>
        <p:nvSpPr>
          <p:cNvPr id="23" name="Text 21"/>
          <p:cNvSpPr txBox="1"/>
          <p:nvPr/>
        </p:nvSpPr>
        <p:spPr>
          <a:xfrm>
            <a:off x="7193128" y="3767328"/>
            <a:ext cx="4084168" cy="292608"/>
          </a:xfrm>
          <a:prstGeom prst="rect">
            <a:avLst/>
          </a:prstGeom>
          <a:noFill/>
          <a:ln/>
        </p:spPr>
        <p:txBody>
          <a:bodyPr wrap="square" lIns="0" tIns="0" rIns="0" bIns="0" rtlCol="0" anchor="ctr"/>
          <a:lstStyle/>
          <a:p>
            <a:pPr indent="0" marL="0">
              <a:buNone/>
            </a:pPr>
            <a:r>
              <a:rPr lang="en-US" sz="1200" dirty="0">
                <a:solidFill>
                  <a:srgbClr val="5A6B80"/>
                </a:solidFill>
                <a:latin typeface="Meiryo" pitchFamily="34" charset="0"/>
                <a:ea typeface="Meiryo" pitchFamily="34" charset="-122"/>
                <a:cs typeface="Meiryo" pitchFamily="34" charset="-120"/>
              </a:rPr>
              <a:t>定量・定性の変化</a:t>
            </a:r>
            <a:endParaRPr lang="en-US" sz="1200" dirty="0"/>
          </a:p>
        </p:txBody>
      </p:sp>
      <p:sp>
        <p:nvSpPr>
          <p:cNvPr id="24" name="Shape 22"/>
          <p:cNvSpPr/>
          <p:nvPr/>
        </p:nvSpPr>
        <p:spPr>
          <a:xfrm>
            <a:off x="640080" y="4526280"/>
            <a:ext cx="5318608" cy="1097280"/>
          </a:xfrm>
          <a:prstGeom prst="roundRect">
            <a:avLst>
              <a:gd name="adj" fmla="val 10000"/>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25" name="Shape 23"/>
          <p:cNvSpPr/>
          <p:nvPr/>
        </p:nvSpPr>
        <p:spPr>
          <a:xfrm>
            <a:off x="914400" y="4800600"/>
            <a:ext cx="548640" cy="548640"/>
          </a:xfrm>
          <a:prstGeom prst="ellipse">
            <a:avLst/>
          </a:prstGeom>
          <a:solidFill>
            <a:srgbClr val="EEF3FA"/>
          </a:solidFill>
          <a:ln w="12700">
            <a:solidFill>
              <a:srgbClr val="DBE7F5"/>
            </a:solidFill>
            <a:prstDash val="solid"/>
          </a:ln>
        </p:spPr>
      </p:sp>
      <p:sp>
        <p:nvSpPr>
          <p:cNvPr id="26" name="Text 24"/>
          <p:cNvSpPr txBox="1"/>
          <p:nvPr/>
        </p:nvSpPr>
        <p:spPr>
          <a:xfrm>
            <a:off x="914400" y="4800600"/>
            <a:ext cx="548640" cy="548640"/>
          </a:xfrm>
          <a:prstGeom prst="rect">
            <a:avLst/>
          </a:prstGeom>
          <a:noFill/>
          <a:ln/>
        </p:spPr>
        <p:txBody>
          <a:bodyPr wrap="square" lIns="0" tIns="0" rIns="0" bIns="0" rtlCol="0" anchor="ctr"/>
          <a:lstStyle/>
          <a:p>
            <a:pPr algn="ctr" indent="0" marL="0">
              <a:buNone/>
            </a:pPr>
            <a:r>
              <a:rPr lang="en-US" sz="1400" b="1" dirty="0">
                <a:solidFill>
                  <a:srgbClr val="1C5CAB"/>
                </a:solidFill>
                <a:latin typeface="Meiryo" pitchFamily="34" charset="0"/>
                <a:ea typeface="Meiryo" pitchFamily="34" charset="-122"/>
                <a:cs typeface="Meiryo" pitchFamily="34" charset="-120"/>
              </a:rPr>
              <a:t>05</a:t>
            </a:r>
            <a:endParaRPr lang="en-US" sz="1400" dirty="0"/>
          </a:p>
        </p:txBody>
      </p:sp>
      <p:sp>
        <p:nvSpPr>
          <p:cNvPr id="27" name="Text 25"/>
          <p:cNvSpPr txBox="1"/>
          <p:nvPr/>
        </p:nvSpPr>
        <p:spPr>
          <a:xfrm>
            <a:off x="1600200" y="4782312"/>
            <a:ext cx="4084168" cy="310896"/>
          </a:xfrm>
          <a:prstGeom prst="rect">
            <a:avLst/>
          </a:prstGeom>
          <a:noFill/>
          <a:ln/>
        </p:spPr>
        <p:txBody>
          <a:bodyPr wrap="square" lIns="0" tIns="0" rIns="0" bIns="0" rtlCol="0" anchor="ctr"/>
          <a:lstStyle/>
          <a:p>
            <a:pPr indent="0" marL="0">
              <a:buNone/>
            </a:pPr>
            <a:r>
              <a:rPr lang="en-US" sz="1600" b="1" dirty="0">
                <a:solidFill>
                  <a:srgbClr val="0C2340"/>
                </a:solidFill>
                <a:latin typeface="Meiryo" pitchFamily="34" charset="0"/>
                <a:ea typeface="Meiryo" pitchFamily="34" charset="-122"/>
                <a:cs typeface="Meiryo" pitchFamily="34" charset="-120"/>
              </a:rPr>
              <a:t>導入の流れ</a:t>
            </a:r>
            <a:endParaRPr lang="en-US" sz="1600" dirty="0"/>
          </a:p>
        </p:txBody>
      </p:sp>
      <p:sp>
        <p:nvSpPr>
          <p:cNvPr id="28" name="Text 26"/>
          <p:cNvSpPr txBox="1"/>
          <p:nvPr/>
        </p:nvSpPr>
        <p:spPr>
          <a:xfrm>
            <a:off x="1600200" y="5093208"/>
            <a:ext cx="4084168" cy="292608"/>
          </a:xfrm>
          <a:prstGeom prst="rect">
            <a:avLst/>
          </a:prstGeom>
          <a:noFill/>
          <a:ln/>
        </p:spPr>
        <p:txBody>
          <a:bodyPr wrap="square" lIns="0" tIns="0" rIns="0" bIns="0" rtlCol="0" anchor="ctr"/>
          <a:lstStyle/>
          <a:p>
            <a:pPr indent="0" marL="0">
              <a:buNone/>
            </a:pPr>
            <a:r>
              <a:rPr lang="en-US" sz="1200" dirty="0">
                <a:solidFill>
                  <a:srgbClr val="5A6B80"/>
                </a:solidFill>
                <a:latin typeface="Meiryo" pitchFamily="34" charset="0"/>
                <a:ea typeface="Meiryo" pitchFamily="34" charset="-122"/>
                <a:cs typeface="Meiryo" pitchFamily="34" charset="-120"/>
              </a:rPr>
              <a:t>最短●日で運用開始</a:t>
            </a:r>
            <a:endParaRPr lang="en-US" sz="1200" dirty="0"/>
          </a:p>
        </p:txBody>
      </p:sp>
      <p:sp>
        <p:nvSpPr>
          <p:cNvPr id="29" name="Shape 27"/>
          <p:cNvSpPr/>
          <p:nvPr/>
        </p:nvSpPr>
        <p:spPr>
          <a:xfrm>
            <a:off x="6233008" y="4526280"/>
            <a:ext cx="5318608" cy="1097280"/>
          </a:xfrm>
          <a:prstGeom prst="roundRect">
            <a:avLst>
              <a:gd name="adj" fmla="val 10000"/>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30" name="Shape 28"/>
          <p:cNvSpPr/>
          <p:nvPr/>
        </p:nvSpPr>
        <p:spPr>
          <a:xfrm>
            <a:off x="6507328" y="4800600"/>
            <a:ext cx="548640" cy="548640"/>
          </a:xfrm>
          <a:prstGeom prst="ellipse">
            <a:avLst/>
          </a:prstGeom>
          <a:solidFill>
            <a:srgbClr val="EEF3FA"/>
          </a:solidFill>
          <a:ln w="12700">
            <a:solidFill>
              <a:srgbClr val="DBE7F5"/>
            </a:solidFill>
            <a:prstDash val="solid"/>
          </a:ln>
        </p:spPr>
      </p:sp>
      <p:sp>
        <p:nvSpPr>
          <p:cNvPr id="31" name="Text 29"/>
          <p:cNvSpPr txBox="1"/>
          <p:nvPr/>
        </p:nvSpPr>
        <p:spPr>
          <a:xfrm>
            <a:off x="6507328" y="4800600"/>
            <a:ext cx="548640" cy="548640"/>
          </a:xfrm>
          <a:prstGeom prst="rect">
            <a:avLst/>
          </a:prstGeom>
          <a:noFill/>
          <a:ln/>
        </p:spPr>
        <p:txBody>
          <a:bodyPr wrap="square" lIns="0" tIns="0" rIns="0" bIns="0" rtlCol="0" anchor="ctr"/>
          <a:lstStyle/>
          <a:p>
            <a:pPr algn="ctr" indent="0" marL="0">
              <a:buNone/>
            </a:pPr>
            <a:r>
              <a:rPr lang="en-US" sz="1400" b="1" dirty="0">
                <a:solidFill>
                  <a:srgbClr val="1C5CAB"/>
                </a:solidFill>
                <a:latin typeface="Meiryo" pitchFamily="34" charset="0"/>
                <a:ea typeface="Meiryo" pitchFamily="34" charset="-122"/>
                <a:cs typeface="Meiryo" pitchFamily="34" charset="-120"/>
              </a:rPr>
              <a:t>06</a:t>
            </a:r>
            <a:endParaRPr lang="en-US" sz="1400" dirty="0"/>
          </a:p>
        </p:txBody>
      </p:sp>
      <p:sp>
        <p:nvSpPr>
          <p:cNvPr id="32" name="Text 30"/>
          <p:cNvSpPr txBox="1"/>
          <p:nvPr/>
        </p:nvSpPr>
        <p:spPr>
          <a:xfrm>
            <a:off x="7193128" y="4782312"/>
            <a:ext cx="4084168" cy="310896"/>
          </a:xfrm>
          <a:prstGeom prst="rect">
            <a:avLst/>
          </a:prstGeom>
          <a:noFill/>
          <a:ln/>
        </p:spPr>
        <p:txBody>
          <a:bodyPr wrap="square" lIns="0" tIns="0" rIns="0" bIns="0" rtlCol="0" anchor="ctr"/>
          <a:lstStyle/>
          <a:p>
            <a:pPr indent="0" marL="0">
              <a:buNone/>
            </a:pPr>
            <a:r>
              <a:rPr lang="en-US" sz="1600" b="1" dirty="0">
                <a:solidFill>
                  <a:srgbClr val="0C2340"/>
                </a:solidFill>
                <a:latin typeface="Meiryo" pitchFamily="34" charset="0"/>
                <a:ea typeface="Meiryo" pitchFamily="34" charset="-122"/>
                <a:cs typeface="Meiryo" pitchFamily="34" charset="-120"/>
              </a:rPr>
              <a:t>料金プラン</a:t>
            </a:r>
            <a:endParaRPr lang="en-US" sz="1600" dirty="0"/>
          </a:p>
        </p:txBody>
      </p:sp>
      <p:sp>
        <p:nvSpPr>
          <p:cNvPr id="33" name="Text 31"/>
          <p:cNvSpPr txBox="1"/>
          <p:nvPr/>
        </p:nvSpPr>
        <p:spPr>
          <a:xfrm>
            <a:off x="7193128" y="5093208"/>
            <a:ext cx="4084168" cy="292608"/>
          </a:xfrm>
          <a:prstGeom prst="rect">
            <a:avLst/>
          </a:prstGeom>
          <a:noFill/>
          <a:ln/>
        </p:spPr>
        <p:txBody>
          <a:bodyPr wrap="square" lIns="0" tIns="0" rIns="0" bIns="0" rtlCol="0" anchor="ctr"/>
          <a:lstStyle/>
          <a:p>
            <a:pPr indent="0" marL="0">
              <a:buNone/>
            </a:pPr>
            <a:r>
              <a:rPr lang="en-US" sz="1200" dirty="0">
                <a:solidFill>
                  <a:srgbClr val="5A6B80"/>
                </a:solidFill>
                <a:latin typeface="Meiryo" pitchFamily="34" charset="0"/>
                <a:ea typeface="Meiryo" pitchFamily="34" charset="-122"/>
                <a:cs typeface="Meiryo" pitchFamily="34" charset="-120"/>
              </a:rPr>
              <a:t>ご利用条件</a:t>
            </a:r>
            <a:endParaRPr lang="en-US" sz="1200" dirty="0"/>
          </a:p>
        </p:txBody>
      </p:sp>
      <p:sp>
        <p:nvSpPr>
          <p:cNvPr id="34" name="Text 32"/>
          <p:cNvSpPr txBox="1"/>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8B99AB"/>
                </a:solidFill>
                <a:latin typeface="Meiryo" pitchFamily="34" charset="0"/>
                <a:ea typeface="Meiryo" pitchFamily="34" charset="-122"/>
                <a:cs typeface="Meiryo" pitchFamily="34" charset="-120"/>
              </a:rPr>
              <a:t>1</a:t>
            </a:r>
            <a:endParaRPr lang="en-US" sz="1000" dirty="0"/>
          </a:p>
        </p:txBody>
      </p:sp>
      <p:sp>
        <p:nvSpPr>
          <p:cNvPr id="35" name="Text 33"/>
          <p:cNvSpPr txBox="1"/>
          <p:nvPr/>
        </p:nvSpPr>
        <p:spPr>
          <a:xfrm>
            <a:off x="640080" y="6291072"/>
            <a:ext cx="1828800" cy="274320"/>
          </a:xfrm>
          <a:prstGeom prst="rect">
            <a:avLst/>
          </a:prstGeom>
          <a:noFill/>
          <a:ln/>
        </p:spPr>
        <p:txBody>
          <a:bodyPr wrap="square" lIns="0" tIns="0" rIns="0" bIns="0" rtlCol="0" anchor="ctr"/>
          <a:lstStyle/>
          <a:p>
            <a:pPr indent="0" marL="0">
              <a:buNone/>
            </a:pPr>
            <a:r>
              <a:rPr lang="en-US" sz="1000" b="1" dirty="0">
                <a:solidFill>
                  <a:srgbClr val="8B99AB"/>
                </a:solidFill>
                <a:latin typeface="Meiryo" pitchFamily="34" charset="0"/>
                <a:ea typeface="Meiryo" pitchFamily="34" charset="-122"/>
                <a:cs typeface="Meiryo" pitchFamily="34" charset="-120"/>
              </a:rPr>
              <a:t>Hittatsu</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640080" y="2103120"/>
            <a:ext cx="2743200" cy="1463040"/>
          </a:xfrm>
          <a:prstGeom prst="rect">
            <a:avLst/>
          </a:prstGeom>
          <a:noFill/>
          <a:ln/>
        </p:spPr>
        <p:txBody>
          <a:bodyPr wrap="square" lIns="0" tIns="0" rIns="0" bIns="0" rtlCol="0" anchor="ctr"/>
          <a:lstStyle/>
          <a:p>
            <a:pPr indent="0" marL="0">
              <a:buNone/>
            </a:pPr>
            <a:r>
              <a:rPr lang="en-US" sz="9600" b="1" spc="-300" kern="0" dirty="0">
                <a:solidFill>
                  <a:srgbClr val="1E4C82"/>
                </a:solidFill>
                <a:latin typeface="Meiryo" pitchFamily="34" charset="0"/>
                <a:ea typeface="Meiryo" pitchFamily="34" charset="-122"/>
                <a:cs typeface="Meiryo" pitchFamily="34" charset="-120"/>
              </a:rPr>
              <a:t>01</a:t>
            </a:r>
            <a:endParaRPr lang="en-US" sz="9600" dirty="0"/>
          </a:p>
        </p:txBody>
      </p:sp>
      <p:sp>
        <p:nvSpPr>
          <p:cNvPr id="3" name="Text 1"/>
          <p:cNvSpPr txBox="1"/>
          <p:nvPr/>
        </p:nvSpPr>
        <p:spPr>
          <a:xfrm>
            <a:off x="2926080" y="2377440"/>
            <a:ext cx="8229600" cy="82296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課題</a:t>
            </a:r>
            <a:endParaRPr lang="en-US" sz="4000" dirty="0"/>
          </a:p>
        </p:txBody>
      </p:sp>
      <p:sp>
        <p:nvSpPr>
          <p:cNvPr id="4" name="Text 2"/>
          <p:cNvSpPr txBox="1"/>
          <p:nvPr/>
        </p:nvSpPr>
        <p:spPr>
          <a:xfrm>
            <a:off x="2926080" y="3200400"/>
            <a:ext cx="8229600" cy="457200"/>
          </a:xfrm>
          <a:prstGeom prst="rect">
            <a:avLst/>
          </a:prstGeom>
          <a:noFill/>
          <a:ln/>
        </p:spPr>
        <p:txBody>
          <a:bodyPr wrap="square" lIns="0" tIns="0" rIns="0" bIns="0" rtlCol="0" anchor="ctr"/>
          <a:lstStyle/>
          <a:p>
            <a:pPr indent="0" marL="0">
              <a:buNone/>
            </a:pPr>
            <a:r>
              <a:rPr lang="en-US" sz="1600" dirty="0">
                <a:solidFill>
                  <a:srgbClr val="9FB8D8"/>
                </a:solidFill>
                <a:latin typeface="Meiryo" pitchFamily="34" charset="0"/>
                <a:ea typeface="Meiryo" pitchFamily="34" charset="-122"/>
                <a:cs typeface="Meiryo" pitchFamily="34" charset="-120"/>
              </a:rPr>
              <a:t>属人化するタスク管理の現状</a:t>
            </a:r>
            <a:endParaRPr lang="en-US" sz="1600" dirty="0"/>
          </a:p>
        </p:txBody>
      </p:sp>
      <p:sp>
        <p:nvSpPr>
          <p:cNvPr id="5" name="Text 3"/>
          <p:cNvSpPr txBox="1"/>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6E86A8"/>
                </a:solidFill>
                <a:latin typeface="Meiryo" pitchFamily="34" charset="0"/>
                <a:ea typeface="Meiryo" pitchFamily="34" charset="-122"/>
                <a:cs typeface="Meiryo" pitchFamily="34" charset="-120"/>
              </a:rPr>
              <a:t>2</a:t>
            </a:r>
            <a:endParaRPr lang="en-US" sz="1000" dirty="0"/>
          </a:p>
        </p:txBody>
      </p:sp>
      <p:sp>
        <p:nvSpPr>
          <p:cNvPr id="6" name="Text 4"/>
          <p:cNvSpPr txBox="1"/>
          <p:nvPr/>
        </p:nvSpPr>
        <p:spPr>
          <a:xfrm>
            <a:off x="640080" y="6291072"/>
            <a:ext cx="1828800" cy="274320"/>
          </a:xfrm>
          <a:prstGeom prst="rect">
            <a:avLst/>
          </a:prstGeom>
          <a:noFill/>
          <a:ln/>
        </p:spPr>
        <p:txBody>
          <a:bodyPr wrap="square" lIns="0" tIns="0" rIns="0" bIns="0" rtlCol="0" anchor="ctr"/>
          <a:lstStyle/>
          <a:p>
            <a:pPr indent="0" marL="0">
              <a:buNone/>
            </a:pPr>
            <a:r>
              <a:rPr lang="en-US" sz="1000" b="1" dirty="0">
                <a:solidFill>
                  <a:srgbClr val="6E86A8"/>
                </a:solidFill>
                <a:latin typeface="Meiryo" pitchFamily="34" charset="0"/>
                <a:ea typeface="Meiryo" pitchFamily="34" charset="-122"/>
                <a:cs typeface="Meiryo" pitchFamily="34" charset="-120"/>
              </a:rPr>
              <a:t>Hittatsu</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566928"/>
          </a:xfrm>
          <a:prstGeom prst="rect">
            <a:avLst/>
          </a:prstGeom>
          <a:noFill/>
          <a:ln/>
        </p:spPr>
        <p:txBody>
          <a:bodyPr wrap="square" lIns="0" tIns="0" rIns="0" bIns="0" rtlCol="0" anchor="ctr"/>
          <a:lstStyle/>
          <a:p>
            <a:pPr indent="0" marL="0">
              <a:buNone/>
            </a:pPr>
            <a:r>
              <a:rPr lang="en-US" sz="3000" b="1" dirty="0">
                <a:solidFill>
                  <a:srgbClr val="0C2340"/>
                </a:solidFill>
                <a:latin typeface="Meiryo" pitchFamily="34" charset="0"/>
                <a:ea typeface="Meiryo" pitchFamily="34" charset="-122"/>
                <a:cs typeface="Meiryo" pitchFamily="34" charset="-120"/>
              </a:rPr>
              <a:t>現場で起きている3つの課題</a:t>
            </a:r>
            <a:endParaRPr lang="en-US" sz="3000" dirty="0"/>
          </a:p>
        </p:txBody>
      </p:sp>
      <p:sp>
        <p:nvSpPr>
          <p:cNvPr id="3" name="Text 1"/>
          <p:cNvSpPr txBox="1"/>
          <p:nvPr/>
        </p:nvSpPr>
        <p:spPr>
          <a:xfrm>
            <a:off x="640080" y="1078992"/>
            <a:ext cx="10911535" cy="329184"/>
          </a:xfrm>
          <a:prstGeom prst="rect">
            <a:avLst/>
          </a:prstGeom>
          <a:noFill/>
          <a:ln/>
        </p:spPr>
        <p:txBody>
          <a:bodyPr wrap="square" lIns="0" tIns="0" rIns="0" bIns="0" rtlCol="0" anchor="ctr"/>
          <a:lstStyle/>
          <a:p>
            <a:pPr indent="0" marL="0">
              <a:buNone/>
            </a:pPr>
            <a:r>
              <a:rPr lang="en-US" sz="1300" dirty="0">
                <a:solidFill>
                  <a:srgbClr val="5A6B80"/>
                </a:solidFill>
                <a:latin typeface="Meiryo" pitchFamily="34" charset="0"/>
                <a:ea typeface="Meiryo" pitchFamily="34" charset="-122"/>
                <a:cs typeface="Meiryo" pitchFamily="34" charset="-120"/>
              </a:rPr>
              <a:t>多くの中小製造業に共通する、タスク管理の詰まり</a:t>
            </a:r>
            <a:endParaRPr lang="en-US" sz="1300" dirty="0"/>
          </a:p>
        </p:txBody>
      </p:sp>
      <p:sp>
        <p:nvSpPr>
          <p:cNvPr id="4" name="Shape 2"/>
          <p:cNvSpPr/>
          <p:nvPr/>
        </p:nvSpPr>
        <p:spPr>
          <a:xfrm>
            <a:off x="640080" y="1874520"/>
            <a:ext cx="3454298" cy="3200400"/>
          </a:xfrm>
          <a:prstGeom prst="roundRect">
            <a:avLst>
              <a:gd name="adj" fmla="val 3429"/>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5" name="Shape 3"/>
          <p:cNvSpPr/>
          <p:nvPr/>
        </p:nvSpPr>
        <p:spPr>
          <a:xfrm>
            <a:off x="960120" y="2240280"/>
            <a:ext cx="713232" cy="713232"/>
          </a:xfrm>
          <a:prstGeom prst="ellipse">
            <a:avLst/>
          </a:prstGeom>
          <a:solidFill>
            <a:srgbClr val="D03B3B"/>
          </a:solidFill>
          <a:ln w="12700">
            <a:solidFill>
              <a:srgbClr val="D03B3B"/>
            </a:solidFill>
            <a:prstDash val="solid"/>
          </a:ln>
        </p:spPr>
      </p:sp>
      <p:pic>
        <p:nvPicPr>
          <p:cNvPr id="6" name="Image 0" descr="preencoded.png">    </p:cNvPr>
          <p:cNvPicPr>
            <a:picLocks noChangeAspect="1"/>
          </p:cNvPicPr>
          <p:nvPr/>
        </p:nvPicPr>
        <p:blipFill>
          <a:blip r:embed="rId1"/>
          <a:stretch>
            <a:fillRect/>
          </a:stretch>
        </p:blipFill>
        <p:spPr>
          <a:xfrm>
            <a:off x="1143000" y="2423160"/>
            <a:ext cx="347472" cy="347472"/>
          </a:xfrm>
          <a:prstGeom prst="rect">
            <a:avLst/>
          </a:prstGeom>
        </p:spPr>
      </p:pic>
      <p:sp>
        <p:nvSpPr>
          <p:cNvPr id="7" name="Text 4"/>
          <p:cNvSpPr txBox="1"/>
          <p:nvPr/>
        </p:nvSpPr>
        <p:spPr>
          <a:xfrm>
            <a:off x="960120" y="3127248"/>
            <a:ext cx="2814218" cy="457200"/>
          </a:xfrm>
          <a:prstGeom prst="rect">
            <a:avLst/>
          </a:prstGeom>
          <a:noFill/>
          <a:ln/>
        </p:spPr>
        <p:txBody>
          <a:bodyPr wrap="square" lIns="0" tIns="0" rIns="0" bIns="0" rtlCol="0" anchor="ctr"/>
          <a:lstStyle/>
          <a:p>
            <a:pPr indent="0" marL="0">
              <a:buNone/>
            </a:pPr>
            <a:r>
              <a:rPr lang="en-US" sz="1800" b="1" dirty="0">
                <a:solidFill>
                  <a:srgbClr val="0C2340"/>
                </a:solidFill>
                <a:latin typeface="Meiryo" pitchFamily="34" charset="0"/>
                <a:ea typeface="Meiryo" pitchFamily="34" charset="-122"/>
                <a:cs typeface="Meiryo" pitchFamily="34" charset="-120"/>
              </a:rPr>
              <a:t>進捗が見えない</a:t>
            </a:r>
            <a:endParaRPr lang="en-US" sz="1800" dirty="0"/>
          </a:p>
        </p:txBody>
      </p:sp>
      <p:sp>
        <p:nvSpPr>
          <p:cNvPr id="8" name="Text 5"/>
          <p:cNvSpPr txBox="1"/>
          <p:nvPr/>
        </p:nvSpPr>
        <p:spPr>
          <a:xfrm>
            <a:off x="960120" y="3584448"/>
            <a:ext cx="2814218" cy="1325880"/>
          </a:xfrm>
          <a:prstGeom prst="rect">
            <a:avLst/>
          </a:prstGeom>
          <a:noFill/>
          <a:ln/>
        </p:spPr>
        <p:txBody>
          <a:bodyPr wrap="square" lIns="0" tIns="0" rIns="0" bIns="0" rtlCol="0" anchor="ctr"/>
          <a:lstStyle/>
          <a:p>
            <a:pPr indent="0" marL="0">
              <a:lnSpc>
                <a:spcPts val="2100"/>
              </a:lnSpc>
              <a:buNone/>
            </a:pPr>
            <a:r>
              <a:rPr lang="en-US" sz="1250" dirty="0">
                <a:solidFill>
                  <a:srgbClr val="5A6B80"/>
                </a:solidFill>
                <a:latin typeface="Meiryo" pitchFamily="34" charset="0"/>
                <a:ea typeface="Meiryo" pitchFamily="34" charset="-122"/>
                <a:cs typeface="Meiryo" pitchFamily="34" charset="-120"/>
              </a:rPr>
              <a:t>誰が何をどこまで進めているか、聞かないと分からない。会議の大半が状況確認に消える。</a:t>
            </a:r>
            <a:endParaRPr lang="en-US" sz="1250" dirty="0"/>
          </a:p>
        </p:txBody>
      </p:sp>
      <p:sp>
        <p:nvSpPr>
          <p:cNvPr id="9" name="Shape 6"/>
          <p:cNvSpPr/>
          <p:nvPr/>
        </p:nvSpPr>
        <p:spPr>
          <a:xfrm>
            <a:off x="4368698" y="1874520"/>
            <a:ext cx="3454298" cy="3200400"/>
          </a:xfrm>
          <a:prstGeom prst="roundRect">
            <a:avLst>
              <a:gd name="adj" fmla="val 3429"/>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0" name="Shape 7"/>
          <p:cNvSpPr/>
          <p:nvPr/>
        </p:nvSpPr>
        <p:spPr>
          <a:xfrm>
            <a:off x="4688738" y="2240280"/>
            <a:ext cx="713232" cy="713232"/>
          </a:xfrm>
          <a:prstGeom prst="ellipse">
            <a:avLst/>
          </a:prstGeom>
          <a:solidFill>
            <a:srgbClr val="D03B3B"/>
          </a:solidFill>
          <a:ln w="12700">
            <a:solidFill>
              <a:srgbClr val="D03B3B"/>
            </a:solidFill>
            <a:prstDash val="solid"/>
          </a:ln>
        </p:spPr>
      </p:sp>
      <p:pic>
        <p:nvPicPr>
          <p:cNvPr id="11" name="Image 1" descr="preencoded.png">    </p:cNvPr>
          <p:cNvPicPr>
            <a:picLocks noChangeAspect="1"/>
          </p:cNvPicPr>
          <p:nvPr/>
        </p:nvPicPr>
        <p:blipFill>
          <a:blip r:embed="rId2"/>
          <a:stretch>
            <a:fillRect/>
          </a:stretch>
        </p:blipFill>
        <p:spPr>
          <a:xfrm>
            <a:off x="4871618" y="2423160"/>
            <a:ext cx="347472" cy="347472"/>
          </a:xfrm>
          <a:prstGeom prst="rect">
            <a:avLst/>
          </a:prstGeom>
        </p:spPr>
      </p:pic>
      <p:sp>
        <p:nvSpPr>
          <p:cNvPr id="12" name="Text 8"/>
          <p:cNvSpPr txBox="1"/>
          <p:nvPr/>
        </p:nvSpPr>
        <p:spPr>
          <a:xfrm>
            <a:off x="4688738" y="3127248"/>
            <a:ext cx="2814218" cy="457200"/>
          </a:xfrm>
          <a:prstGeom prst="rect">
            <a:avLst/>
          </a:prstGeom>
          <a:noFill/>
          <a:ln/>
        </p:spPr>
        <p:txBody>
          <a:bodyPr wrap="square" lIns="0" tIns="0" rIns="0" bIns="0" rtlCol="0" anchor="ctr"/>
          <a:lstStyle/>
          <a:p>
            <a:pPr indent="0" marL="0">
              <a:buNone/>
            </a:pPr>
            <a:r>
              <a:rPr lang="en-US" sz="1800" b="1" dirty="0">
                <a:solidFill>
                  <a:srgbClr val="0C2340"/>
                </a:solidFill>
                <a:latin typeface="Meiryo" pitchFamily="34" charset="0"/>
                <a:ea typeface="Meiryo" pitchFamily="34" charset="-122"/>
                <a:cs typeface="Meiryo" pitchFamily="34" charset="-120"/>
              </a:rPr>
              <a:t>更新が続かない</a:t>
            </a:r>
            <a:endParaRPr lang="en-US" sz="1800" dirty="0"/>
          </a:p>
        </p:txBody>
      </p:sp>
      <p:sp>
        <p:nvSpPr>
          <p:cNvPr id="13" name="Text 9"/>
          <p:cNvSpPr txBox="1"/>
          <p:nvPr/>
        </p:nvSpPr>
        <p:spPr>
          <a:xfrm>
            <a:off x="4688738" y="3584448"/>
            <a:ext cx="2814218" cy="1325880"/>
          </a:xfrm>
          <a:prstGeom prst="rect">
            <a:avLst/>
          </a:prstGeom>
          <a:noFill/>
          <a:ln/>
        </p:spPr>
        <p:txBody>
          <a:bodyPr wrap="square" lIns="0" tIns="0" rIns="0" bIns="0" rtlCol="0" anchor="ctr"/>
          <a:lstStyle/>
          <a:p>
            <a:pPr indent="0" marL="0">
              <a:lnSpc>
                <a:spcPts val="2100"/>
              </a:lnSpc>
              <a:buNone/>
            </a:pPr>
            <a:r>
              <a:rPr lang="en-US" sz="1250" dirty="0">
                <a:solidFill>
                  <a:srgbClr val="5A6B80"/>
                </a:solidFill>
                <a:latin typeface="Meiryo" pitchFamily="34" charset="0"/>
                <a:ea typeface="Meiryo" pitchFamily="34" charset="-122"/>
                <a:cs typeface="Meiryo" pitchFamily="34" charset="-120"/>
              </a:rPr>
              <a:t>入力項目が多いツールは定着しない。結局スプレッドシートと口頭連絡に戻ってしまう。</a:t>
            </a:r>
            <a:endParaRPr lang="en-US" sz="1250" dirty="0"/>
          </a:p>
        </p:txBody>
      </p:sp>
      <p:sp>
        <p:nvSpPr>
          <p:cNvPr id="14" name="Shape 10"/>
          <p:cNvSpPr/>
          <p:nvPr/>
        </p:nvSpPr>
        <p:spPr>
          <a:xfrm>
            <a:off x="8097317" y="1874520"/>
            <a:ext cx="3454298" cy="3200400"/>
          </a:xfrm>
          <a:prstGeom prst="roundRect">
            <a:avLst>
              <a:gd name="adj" fmla="val 3429"/>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5" name="Shape 11"/>
          <p:cNvSpPr/>
          <p:nvPr/>
        </p:nvSpPr>
        <p:spPr>
          <a:xfrm>
            <a:off x="8417357" y="2240280"/>
            <a:ext cx="713232" cy="713232"/>
          </a:xfrm>
          <a:prstGeom prst="ellipse">
            <a:avLst/>
          </a:prstGeom>
          <a:solidFill>
            <a:srgbClr val="D03B3B"/>
          </a:solidFill>
          <a:ln w="12700">
            <a:solidFill>
              <a:srgbClr val="D03B3B"/>
            </a:solidFill>
            <a:prstDash val="solid"/>
          </a:ln>
        </p:spPr>
      </p:sp>
      <p:pic>
        <p:nvPicPr>
          <p:cNvPr id="16" name="Image 2" descr="preencoded.png">    </p:cNvPr>
          <p:cNvPicPr>
            <a:picLocks noChangeAspect="1"/>
          </p:cNvPicPr>
          <p:nvPr/>
        </p:nvPicPr>
        <p:blipFill>
          <a:blip r:embed="rId3"/>
          <a:stretch>
            <a:fillRect/>
          </a:stretch>
        </p:blipFill>
        <p:spPr>
          <a:xfrm>
            <a:off x="8600237" y="2423160"/>
            <a:ext cx="347472" cy="347472"/>
          </a:xfrm>
          <a:prstGeom prst="rect">
            <a:avLst/>
          </a:prstGeom>
        </p:spPr>
      </p:pic>
      <p:sp>
        <p:nvSpPr>
          <p:cNvPr id="17" name="Text 12"/>
          <p:cNvSpPr txBox="1"/>
          <p:nvPr/>
        </p:nvSpPr>
        <p:spPr>
          <a:xfrm>
            <a:off x="8417357" y="3127248"/>
            <a:ext cx="2814218" cy="457200"/>
          </a:xfrm>
          <a:prstGeom prst="rect">
            <a:avLst/>
          </a:prstGeom>
          <a:noFill/>
          <a:ln/>
        </p:spPr>
        <p:txBody>
          <a:bodyPr wrap="square" lIns="0" tIns="0" rIns="0" bIns="0" rtlCol="0" anchor="ctr"/>
          <a:lstStyle/>
          <a:p>
            <a:pPr indent="0" marL="0">
              <a:buNone/>
            </a:pPr>
            <a:r>
              <a:rPr lang="en-US" sz="1800" b="1" dirty="0">
                <a:solidFill>
                  <a:srgbClr val="0C2340"/>
                </a:solidFill>
                <a:latin typeface="Meiryo" pitchFamily="34" charset="0"/>
                <a:ea typeface="Meiryo" pitchFamily="34" charset="-122"/>
                <a:cs typeface="Meiryo" pitchFamily="34" charset="-120"/>
              </a:rPr>
              <a:t>振り返りが残らない</a:t>
            </a:r>
            <a:endParaRPr lang="en-US" sz="1800" dirty="0"/>
          </a:p>
        </p:txBody>
      </p:sp>
      <p:sp>
        <p:nvSpPr>
          <p:cNvPr id="18" name="Text 13"/>
          <p:cNvSpPr txBox="1"/>
          <p:nvPr/>
        </p:nvSpPr>
        <p:spPr>
          <a:xfrm>
            <a:off x="8417357" y="3584448"/>
            <a:ext cx="2814218" cy="1325880"/>
          </a:xfrm>
          <a:prstGeom prst="rect">
            <a:avLst/>
          </a:prstGeom>
          <a:noFill/>
          <a:ln/>
        </p:spPr>
        <p:txBody>
          <a:bodyPr wrap="square" lIns="0" tIns="0" rIns="0" bIns="0" rtlCol="0" anchor="ctr"/>
          <a:lstStyle/>
          <a:p>
            <a:pPr indent="0" marL="0">
              <a:lnSpc>
                <a:spcPts val="2100"/>
              </a:lnSpc>
              <a:buNone/>
            </a:pPr>
            <a:r>
              <a:rPr lang="en-US" sz="1250" dirty="0">
                <a:solidFill>
                  <a:srgbClr val="5A6B80"/>
                </a:solidFill>
                <a:latin typeface="Meiryo" pitchFamily="34" charset="0"/>
                <a:ea typeface="Meiryo" pitchFamily="34" charset="-122"/>
                <a:cs typeface="Meiryo" pitchFamily="34" charset="-120"/>
              </a:rPr>
              <a:t>週次の学びが記録されず、同じ遅延を繰り返す。改善がノウハウとして蓄積しない。</a:t>
            </a:r>
            <a:endParaRPr lang="en-US" sz="1250" dirty="0"/>
          </a:p>
        </p:txBody>
      </p:sp>
      <p:sp>
        <p:nvSpPr>
          <p:cNvPr id="19" name="Text 14"/>
          <p:cNvSpPr txBox="1"/>
          <p:nvPr/>
        </p:nvSpPr>
        <p:spPr>
          <a:xfrm>
            <a:off x="640080" y="5257800"/>
            <a:ext cx="10911535" cy="320040"/>
          </a:xfrm>
          <a:prstGeom prst="rect">
            <a:avLst/>
          </a:prstGeom>
          <a:noFill/>
          <a:ln/>
        </p:spPr>
        <p:txBody>
          <a:bodyPr wrap="square" lIns="0" tIns="0" rIns="0" bIns="0" rtlCol="0" anchor="ctr"/>
          <a:lstStyle/>
          <a:p>
            <a:pPr indent="0" marL="0">
              <a:buNone/>
            </a:pPr>
            <a:r>
              <a:rPr lang="en-US" sz="1100" dirty="0">
                <a:solidFill>
                  <a:srgbClr val="5A6B80"/>
                </a:solidFill>
                <a:latin typeface="Meiryo" pitchFamily="34" charset="0"/>
                <a:ea typeface="Meiryo" pitchFamily="34" charset="-122"/>
                <a:cs typeface="Meiryo" pitchFamily="34" charset="-120"/>
              </a:rPr>
              <a:t>※ 貴社の状況に合わせて課題文を差し替えてご利用ください。</a:t>
            </a:r>
            <a:endParaRPr lang="en-US" sz="1100" dirty="0"/>
          </a:p>
        </p:txBody>
      </p:sp>
      <p:sp>
        <p:nvSpPr>
          <p:cNvPr id="20" name="Text 15"/>
          <p:cNvSpPr txBox="1"/>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8B99AB"/>
                </a:solidFill>
                <a:latin typeface="Meiryo" pitchFamily="34" charset="0"/>
                <a:ea typeface="Meiryo" pitchFamily="34" charset="-122"/>
                <a:cs typeface="Meiryo" pitchFamily="34" charset="-120"/>
              </a:rPr>
              <a:t>3</a:t>
            </a:r>
            <a:endParaRPr lang="en-US" sz="1000" dirty="0"/>
          </a:p>
        </p:txBody>
      </p:sp>
      <p:sp>
        <p:nvSpPr>
          <p:cNvPr id="21" name="Text 16"/>
          <p:cNvSpPr txBox="1"/>
          <p:nvPr/>
        </p:nvSpPr>
        <p:spPr>
          <a:xfrm>
            <a:off x="640080" y="6291072"/>
            <a:ext cx="1828800" cy="274320"/>
          </a:xfrm>
          <a:prstGeom prst="rect">
            <a:avLst/>
          </a:prstGeom>
          <a:noFill/>
          <a:ln/>
        </p:spPr>
        <p:txBody>
          <a:bodyPr wrap="square" lIns="0" tIns="0" rIns="0" bIns="0" rtlCol="0" anchor="ctr"/>
          <a:lstStyle/>
          <a:p>
            <a:pPr indent="0" marL="0">
              <a:buNone/>
            </a:pPr>
            <a:r>
              <a:rPr lang="en-US" sz="1000" b="1" dirty="0">
                <a:solidFill>
                  <a:srgbClr val="8B99AB"/>
                </a:solidFill>
                <a:latin typeface="Meiryo" pitchFamily="34" charset="0"/>
                <a:ea typeface="Meiryo" pitchFamily="34" charset="-122"/>
                <a:cs typeface="Meiryo" pitchFamily="34" charset="-120"/>
              </a:rPr>
              <a:t>Hittatsu</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566928"/>
          </a:xfrm>
          <a:prstGeom prst="rect">
            <a:avLst/>
          </a:prstGeom>
          <a:noFill/>
          <a:ln/>
        </p:spPr>
        <p:txBody>
          <a:bodyPr wrap="square" lIns="0" tIns="0" rIns="0" bIns="0" rtlCol="0" anchor="ctr"/>
          <a:lstStyle/>
          <a:p>
            <a:pPr indent="0" marL="0">
              <a:buNone/>
            </a:pPr>
            <a:r>
              <a:rPr lang="en-US" sz="3000" b="1" dirty="0">
                <a:solidFill>
                  <a:srgbClr val="0C2340"/>
                </a:solidFill>
                <a:latin typeface="Meiryo" pitchFamily="34" charset="0"/>
                <a:ea typeface="Meiryo" pitchFamily="34" charset="-122"/>
                <a:cs typeface="Meiryo" pitchFamily="34" charset="-120"/>
              </a:rPr>
              <a:t>Hittatsu とは</a:t>
            </a:r>
            <a:endParaRPr lang="en-US" sz="3000" dirty="0"/>
          </a:p>
        </p:txBody>
      </p:sp>
      <p:sp>
        <p:nvSpPr>
          <p:cNvPr id="3" name="Text 1"/>
          <p:cNvSpPr txBox="1"/>
          <p:nvPr/>
        </p:nvSpPr>
        <p:spPr>
          <a:xfrm>
            <a:off x="640080" y="1078992"/>
            <a:ext cx="10911535" cy="329184"/>
          </a:xfrm>
          <a:prstGeom prst="rect">
            <a:avLst/>
          </a:prstGeom>
          <a:noFill/>
          <a:ln/>
        </p:spPr>
        <p:txBody>
          <a:bodyPr wrap="square" lIns="0" tIns="0" rIns="0" bIns="0" rtlCol="0" anchor="ctr"/>
          <a:lstStyle/>
          <a:p>
            <a:pPr indent="0" marL="0">
              <a:buNone/>
            </a:pPr>
            <a:r>
              <a:rPr lang="en-US" sz="1300" dirty="0">
                <a:solidFill>
                  <a:srgbClr val="5A6B80"/>
                </a:solidFill>
                <a:latin typeface="Meiryo" pitchFamily="34" charset="0"/>
                <a:ea typeface="Meiryo" pitchFamily="34" charset="-122"/>
                <a:cs typeface="Meiryo" pitchFamily="34" charset="-120"/>
              </a:rPr>
              <a:t>入力の手間を最小に、見える化を最大に。</a:t>
            </a:r>
            <a:endParaRPr lang="en-US" sz="1300" dirty="0"/>
          </a:p>
        </p:txBody>
      </p:sp>
      <p:sp>
        <p:nvSpPr>
          <p:cNvPr id="4" name="Text 2"/>
          <p:cNvSpPr txBox="1"/>
          <p:nvPr/>
        </p:nvSpPr>
        <p:spPr>
          <a:xfrm>
            <a:off x="640080" y="1874520"/>
            <a:ext cx="5669280" cy="914400"/>
          </a:xfrm>
          <a:prstGeom prst="rect">
            <a:avLst/>
          </a:prstGeom>
          <a:noFill/>
          <a:ln/>
        </p:spPr>
        <p:txBody>
          <a:bodyPr wrap="square" lIns="0" tIns="0" rIns="0" bIns="0" rtlCol="0" anchor="ctr"/>
          <a:lstStyle/>
          <a:p>
            <a:pPr indent="0" marL="0">
              <a:lnSpc>
                <a:spcPts val="3300"/>
              </a:lnSpc>
              <a:buNone/>
            </a:pPr>
            <a:r>
              <a:rPr lang="en-US" sz="2100" b="1" dirty="0">
                <a:solidFill>
                  <a:srgbClr val="0C2340"/>
                </a:solidFill>
                <a:latin typeface="Meiryo" pitchFamily="34" charset="0"/>
                <a:ea typeface="Meiryo" pitchFamily="34" charset="-122"/>
                <a:cs typeface="Meiryo" pitchFamily="34" charset="-120"/>
              </a:rPr>
              <a:t>「聞かなくても分かる」状態をつくる、</a:t>
            </a:r>
            <a:endParaRPr lang="en-US" sz="2100" dirty="0"/>
          </a:p>
          <a:p>
            <a:pPr indent="0" marL="0">
              <a:lnSpc>
                <a:spcPts val="3300"/>
              </a:lnSpc>
              <a:buNone/>
            </a:pPr>
            <a:r>
              <a:rPr lang="en-US" sz="2100" b="1" dirty="0">
                <a:solidFill>
                  <a:srgbClr val="0C2340"/>
                </a:solidFill>
                <a:latin typeface="Meiryo" pitchFamily="34" charset="0"/>
                <a:ea typeface="Meiryo" pitchFamily="34" charset="-122"/>
                <a:cs typeface="Meiryo" pitchFamily="34" charset="-120"/>
              </a:rPr>
              <a:t>チーム向けタスク管理クラウド</a:t>
            </a:r>
            <a:endParaRPr lang="en-US" sz="2100" dirty="0"/>
          </a:p>
        </p:txBody>
      </p:sp>
      <p:sp>
        <p:nvSpPr>
          <p:cNvPr id="5" name="Text 3"/>
          <p:cNvSpPr txBox="1"/>
          <p:nvPr/>
        </p:nvSpPr>
        <p:spPr>
          <a:xfrm>
            <a:off x="685800" y="2971800"/>
            <a:ext cx="5577840" cy="192024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400" dirty="0">
                <a:solidFill>
                  <a:srgbClr val="16202E"/>
                </a:solidFill>
                <a:latin typeface="Meiryo" pitchFamily="34" charset="0"/>
                <a:ea typeface="Meiryo" pitchFamily="34" charset="-122"/>
                <a:cs typeface="Meiryo" pitchFamily="34" charset="-120"/>
              </a:rPr>
              <a:t>Googleアカウントでログインするだけ。インストール不要</a:t>
            </a:r>
            <a:endParaRPr lang="en-US" sz="1400" dirty="0"/>
          </a:p>
          <a:p>
            <a:pPr marL="342900" indent="-342900">
              <a:lnSpc>
                <a:spcPts val="2200"/>
              </a:lnSpc>
              <a:spcAft>
                <a:spcPts val="1000"/>
              </a:spcAft>
              <a:buSzPct val="100000"/>
              <a:buChar char="•"/>
            </a:pPr>
            <a:r>
              <a:rPr lang="en-US" sz="1400" dirty="0">
                <a:solidFill>
                  <a:srgbClr val="16202E"/>
                </a:solidFill>
                <a:latin typeface="Meiryo" pitchFamily="34" charset="0"/>
                <a:ea typeface="Meiryo" pitchFamily="34" charset="-122"/>
                <a:cs typeface="Meiryo" pitchFamily="34" charset="-120"/>
              </a:rPr>
              <a:t>プロジェクトを階層で分解し、進捗率は自動算出</a:t>
            </a:r>
            <a:endParaRPr lang="en-US" sz="1400" dirty="0"/>
          </a:p>
          <a:p>
            <a:pPr marL="342900" indent="-342900">
              <a:lnSpc>
                <a:spcPts val="2200"/>
              </a:lnSpc>
              <a:spcAft>
                <a:spcPts val="1000"/>
              </a:spcAft>
              <a:buSzPct val="100000"/>
              <a:buChar char="•"/>
            </a:pPr>
            <a:r>
              <a:rPr lang="en-US" sz="1400" dirty="0">
                <a:solidFill>
                  <a:srgbClr val="16202E"/>
                </a:solidFill>
                <a:latin typeface="Meiryo" pitchFamily="34" charset="0"/>
                <a:ea typeface="Meiryo" pitchFamily="34" charset="-122"/>
                <a:cs typeface="Meiryo" pitchFamily="34" charset="-120"/>
              </a:rPr>
              <a:t>Googleカレンダーと連携し、週次の予定に自動反映</a:t>
            </a:r>
            <a:endParaRPr lang="en-US" sz="1400" dirty="0"/>
          </a:p>
          <a:p>
            <a:pPr marL="342900" indent="-342900">
              <a:lnSpc>
                <a:spcPts val="2200"/>
              </a:lnSpc>
              <a:spcAft>
                <a:spcPts val="1000"/>
              </a:spcAft>
              <a:buSzPct val="100000"/>
              <a:buChar char="•"/>
            </a:pPr>
            <a:r>
              <a:rPr lang="en-US" sz="1400" dirty="0">
                <a:solidFill>
                  <a:srgbClr val="16202E"/>
                </a:solidFill>
                <a:latin typeface="Meiryo" pitchFamily="34" charset="0"/>
                <a:ea typeface="Meiryo" pitchFamily="34" charset="-122"/>
                <a:cs typeface="Meiryo" pitchFamily="34" charset="-120"/>
              </a:rPr>
              <a:t>変更はリアルタイム同期。PC・スマホどちらからでも</a:t>
            </a:r>
            <a:endParaRPr lang="en-US" sz="1400" dirty="0"/>
          </a:p>
        </p:txBody>
      </p:sp>
      <p:sp>
        <p:nvSpPr>
          <p:cNvPr id="6" name="Shape 4"/>
          <p:cNvSpPr/>
          <p:nvPr/>
        </p:nvSpPr>
        <p:spPr>
          <a:xfrm>
            <a:off x="6720840" y="1874520"/>
            <a:ext cx="2377440" cy="1371600"/>
          </a:xfrm>
          <a:prstGeom prst="roundRect">
            <a:avLst>
              <a:gd name="adj" fmla="val 8000"/>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7" name="Text 5"/>
          <p:cNvSpPr txBox="1"/>
          <p:nvPr/>
        </p:nvSpPr>
        <p:spPr>
          <a:xfrm>
            <a:off x="6858000" y="2039112"/>
            <a:ext cx="2103120" cy="274320"/>
          </a:xfrm>
          <a:prstGeom prst="rect">
            <a:avLst/>
          </a:prstGeom>
          <a:noFill/>
          <a:ln/>
        </p:spPr>
        <p:txBody>
          <a:bodyPr wrap="square" lIns="0" tIns="0" rIns="0" bIns="0" rtlCol="0" anchor="ctr"/>
          <a:lstStyle/>
          <a:p>
            <a:pPr algn="ctr" indent="0" marL="0">
              <a:buNone/>
            </a:pPr>
            <a:r>
              <a:rPr lang="en-US" sz="1050" b="1" dirty="0">
                <a:solidFill>
                  <a:srgbClr val="5A6B80"/>
                </a:solidFill>
                <a:latin typeface="Meiryo" pitchFamily="34" charset="0"/>
                <a:ea typeface="Meiryo" pitchFamily="34" charset="-122"/>
                <a:cs typeface="Meiryo" pitchFamily="34" charset="-120"/>
              </a:rPr>
              <a:t>今週の完了タスク</a:t>
            </a:r>
            <a:endParaRPr lang="en-US" sz="1050" dirty="0"/>
          </a:p>
        </p:txBody>
      </p:sp>
      <p:sp>
        <p:nvSpPr>
          <p:cNvPr id="8" name="Text 6"/>
          <p:cNvSpPr txBox="1"/>
          <p:nvPr/>
        </p:nvSpPr>
        <p:spPr>
          <a:xfrm>
            <a:off x="6858000" y="2350008"/>
            <a:ext cx="2103120" cy="713232"/>
          </a:xfrm>
          <a:prstGeom prst="rect">
            <a:avLst/>
          </a:prstGeom>
          <a:noFill/>
          <a:ln/>
        </p:spPr>
        <p:txBody>
          <a:bodyPr wrap="square" lIns="0" tIns="0" rIns="0" bIns="0" rtlCol="0" anchor="ctr"/>
          <a:lstStyle/>
          <a:p>
            <a:pPr algn="ctr" indent="0" marL="0">
              <a:buNone/>
            </a:pPr>
            <a:r>
              <a:rPr lang="en-US" sz="3000" b="1" dirty="0">
                <a:solidFill>
                  <a:srgbClr val="0C2340"/>
                </a:solidFill>
                <a:latin typeface="Meiryo" pitchFamily="34" charset="0"/>
                <a:ea typeface="Meiryo" pitchFamily="34" charset="-122"/>
                <a:cs typeface="Meiryo" pitchFamily="34" charset="-120"/>
              </a:rPr>
              <a:t>18</a:t>
            </a:r>
            <a:endParaRPr lang="en-US" sz="3000" dirty="0"/>
          </a:p>
        </p:txBody>
      </p:sp>
      <p:sp>
        <p:nvSpPr>
          <p:cNvPr id="9" name="Shape 7"/>
          <p:cNvSpPr/>
          <p:nvPr/>
        </p:nvSpPr>
        <p:spPr>
          <a:xfrm>
            <a:off x="9372600" y="1874520"/>
            <a:ext cx="2377440" cy="1371600"/>
          </a:xfrm>
          <a:prstGeom prst="roundRect">
            <a:avLst>
              <a:gd name="adj" fmla="val 8000"/>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0" name="Text 8"/>
          <p:cNvSpPr txBox="1"/>
          <p:nvPr/>
        </p:nvSpPr>
        <p:spPr>
          <a:xfrm>
            <a:off x="9509760" y="2039112"/>
            <a:ext cx="2103120" cy="274320"/>
          </a:xfrm>
          <a:prstGeom prst="rect">
            <a:avLst/>
          </a:prstGeom>
          <a:noFill/>
          <a:ln/>
        </p:spPr>
        <p:txBody>
          <a:bodyPr wrap="square" lIns="0" tIns="0" rIns="0" bIns="0" rtlCol="0" anchor="ctr"/>
          <a:lstStyle/>
          <a:p>
            <a:pPr algn="ctr" indent="0" marL="0">
              <a:buNone/>
            </a:pPr>
            <a:r>
              <a:rPr lang="en-US" sz="1050" b="1" dirty="0">
                <a:solidFill>
                  <a:srgbClr val="5A6B80"/>
                </a:solidFill>
                <a:latin typeface="Meiryo" pitchFamily="34" charset="0"/>
                <a:ea typeface="Meiryo" pitchFamily="34" charset="-122"/>
                <a:cs typeface="Meiryo" pitchFamily="34" charset="-120"/>
              </a:rPr>
              <a:t>進行中プロジェクト</a:t>
            </a:r>
            <a:endParaRPr lang="en-US" sz="1050" dirty="0"/>
          </a:p>
        </p:txBody>
      </p:sp>
      <p:sp>
        <p:nvSpPr>
          <p:cNvPr id="11" name="Text 9"/>
          <p:cNvSpPr txBox="1"/>
          <p:nvPr/>
        </p:nvSpPr>
        <p:spPr>
          <a:xfrm>
            <a:off x="9509760" y="2350008"/>
            <a:ext cx="2103120" cy="713232"/>
          </a:xfrm>
          <a:prstGeom prst="rect">
            <a:avLst/>
          </a:prstGeom>
          <a:noFill/>
          <a:ln/>
        </p:spPr>
        <p:txBody>
          <a:bodyPr wrap="square" lIns="0" tIns="0" rIns="0" bIns="0" rtlCol="0" anchor="ctr"/>
          <a:lstStyle/>
          <a:p>
            <a:pPr algn="ctr" indent="0" marL="0">
              <a:buNone/>
            </a:pPr>
            <a:r>
              <a:rPr lang="en-US" sz="3000" b="1" dirty="0">
                <a:solidFill>
                  <a:srgbClr val="0C2340"/>
                </a:solidFill>
                <a:latin typeface="Meiryo" pitchFamily="34" charset="0"/>
                <a:ea typeface="Meiryo" pitchFamily="34" charset="-122"/>
                <a:cs typeface="Meiryo" pitchFamily="34" charset="-120"/>
              </a:rPr>
              <a:t>6</a:t>
            </a:r>
            <a:endParaRPr lang="en-US" sz="3000" dirty="0"/>
          </a:p>
        </p:txBody>
      </p:sp>
      <p:sp>
        <p:nvSpPr>
          <p:cNvPr id="12" name="Shape 10"/>
          <p:cNvSpPr/>
          <p:nvPr/>
        </p:nvSpPr>
        <p:spPr>
          <a:xfrm>
            <a:off x="6720840" y="3520440"/>
            <a:ext cx="2377440" cy="1371600"/>
          </a:xfrm>
          <a:prstGeom prst="roundRect">
            <a:avLst>
              <a:gd name="adj" fmla="val 8000"/>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3" name="Text 11"/>
          <p:cNvSpPr txBox="1"/>
          <p:nvPr/>
        </p:nvSpPr>
        <p:spPr>
          <a:xfrm>
            <a:off x="6858000" y="3685032"/>
            <a:ext cx="2103120" cy="274320"/>
          </a:xfrm>
          <a:prstGeom prst="rect">
            <a:avLst/>
          </a:prstGeom>
          <a:noFill/>
          <a:ln/>
        </p:spPr>
        <p:txBody>
          <a:bodyPr wrap="square" lIns="0" tIns="0" rIns="0" bIns="0" rtlCol="0" anchor="ctr"/>
          <a:lstStyle/>
          <a:p>
            <a:pPr algn="ctr" indent="0" marL="0">
              <a:buNone/>
            </a:pPr>
            <a:r>
              <a:rPr lang="en-US" sz="1050" b="1" dirty="0">
                <a:solidFill>
                  <a:srgbClr val="5A6B80"/>
                </a:solidFill>
                <a:latin typeface="Meiryo" pitchFamily="34" charset="0"/>
                <a:ea typeface="Meiryo" pitchFamily="34" charset="-122"/>
                <a:cs typeface="Meiryo" pitchFamily="34" charset="-120"/>
              </a:rPr>
              <a:t>期限超過</a:t>
            </a:r>
            <a:endParaRPr lang="en-US" sz="1050" dirty="0"/>
          </a:p>
        </p:txBody>
      </p:sp>
      <p:sp>
        <p:nvSpPr>
          <p:cNvPr id="14" name="Text 12"/>
          <p:cNvSpPr txBox="1"/>
          <p:nvPr/>
        </p:nvSpPr>
        <p:spPr>
          <a:xfrm>
            <a:off x="6858000" y="3995928"/>
            <a:ext cx="2103120" cy="713232"/>
          </a:xfrm>
          <a:prstGeom prst="rect">
            <a:avLst/>
          </a:prstGeom>
          <a:noFill/>
          <a:ln/>
        </p:spPr>
        <p:txBody>
          <a:bodyPr wrap="square" lIns="0" tIns="0" rIns="0" bIns="0" rtlCol="0" anchor="ctr"/>
          <a:lstStyle/>
          <a:p>
            <a:pPr algn="ctr" indent="0" marL="0">
              <a:buNone/>
            </a:pPr>
            <a:r>
              <a:rPr lang="en-US" sz="3000" b="1" dirty="0">
                <a:solidFill>
                  <a:srgbClr val="D03B3B"/>
                </a:solidFill>
                <a:latin typeface="Meiryo" pitchFamily="34" charset="0"/>
                <a:ea typeface="Meiryo" pitchFamily="34" charset="-122"/>
                <a:cs typeface="Meiryo" pitchFamily="34" charset="-120"/>
              </a:rPr>
              <a:t>2</a:t>
            </a:r>
            <a:endParaRPr lang="en-US" sz="3000" dirty="0"/>
          </a:p>
        </p:txBody>
      </p:sp>
      <p:sp>
        <p:nvSpPr>
          <p:cNvPr id="15" name="Shape 13"/>
          <p:cNvSpPr/>
          <p:nvPr/>
        </p:nvSpPr>
        <p:spPr>
          <a:xfrm>
            <a:off x="9372600" y="3520440"/>
            <a:ext cx="2377440" cy="1371600"/>
          </a:xfrm>
          <a:prstGeom prst="roundRect">
            <a:avLst>
              <a:gd name="adj" fmla="val 8000"/>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6" name="Text 14"/>
          <p:cNvSpPr txBox="1"/>
          <p:nvPr/>
        </p:nvSpPr>
        <p:spPr>
          <a:xfrm>
            <a:off x="9509760" y="3685032"/>
            <a:ext cx="2103120" cy="274320"/>
          </a:xfrm>
          <a:prstGeom prst="rect">
            <a:avLst/>
          </a:prstGeom>
          <a:noFill/>
          <a:ln/>
        </p:spPr>
        <p:txBody>
          <a:bodyPr wrap="square" lIns="0" tIns="0" rIns="0" bIns="0" rtlCol="0" anchor="ctr"/>
          <a:lstStyle/>
          <a:p>
            <a:pPr algn="ctr" indent="0" marL="0">
              <a:buNone/>
            </a:pPr>
            <a:r>
              <a:rPr lang="en-US" sz="1050" b="1" dirty="0">
                <a:solidFill>
                  <a:srgbClr val="5A6B80"/>
                </a:solidFill>
                <a:latin typeface="Meiryo" pitchFamily="34" charset="0"/>
                <a:ea typeface="Meiryo" pitchFamily="34" charset="-122"/>
                <a:cs typeface="Meiryo" pitchFamily="34" charset="-120"/>
              </a:rPr>
              <a:t>平均進捗率</a:t>
            </a:r>
            <a:endParaRPr lang="en-US" sz="1050" dirty="0"/>
          </a:p>
        </p:txBody>
      </p:sp>
      <p:sp>
        <p:nvSpPr>
          <p:cNvPr id="17" name="Text 15"/>
          <p:cNvSpPr txBox="1"/>
          <p:nvPr/>
        </p:nvSpPr>
        <p:spPr>
          <a:xfrm>
            <a:off x="9509760" y="3995928"/>
            <a:ext cx="2103120" cy="713232"/>
          </a:xfrm>
          <a:prstGeom prst="rect">
            <a:avLst/>
          </a:prstGeom>
          <a:noFill/>
          <a:ln/>
        </p:spPr>
        <p:txBody>
          <a:bodyPr wrap="square" lIns="0" tIns="0" rIns="0" bIns="0" rtlCol="0" anchor="ctr"/>
          <a:lstStyle/>
          <a:p>
            <a:pPr algn="ctr" indent="0" marL="0">
              <a:buNone/>
            </a:pPr>
            <a:r>
              <a:rPr lang="en-US" sz="3000" b="1" dirty="0">
                <a:solidFill>
                  <a:srgbClr val="067806"/>
                </a:solidFill>
                <a:latin typeface="Meiryo" pitchFamily="34" charset="0"/>
                <a:ea typeface="Meiryo" pitchFamily="34" charset="-122"/>
                <a:cs typeface="Meiryo" pitchFamily="34" charset="-120"/>
              </a:rPr>
              <a:t>72%</a:t>
            </a:r>
            <a:endParaRPr lang="en-US" sz="3000" dirty="0"/>
          </a:p>
        </p:txBody>
      </p:sp>
      <p:sp>
        <p:nvSpPr>
          <p:cNvPr id="18" name="Text 16"/>
          <p:cNvSpPr txBox="1"/>
          <p:nvPr/>
        </p:nvSpPr>
        <p:spPr>
          <a:xfrm>
            <a:off x="6720840" y="4983480"/>
            <a:ext cx="5029200" cy="274320"/>
          </a:xfrm>
          <a:prstGeom prst="rect">
            <a:avLst/>
          </a:prstGeom>
          <a:noFill/>
          <a:ln/>
        </p:spPr>
        <p:txBody>
          <a:bodyPr wrap="square" lIns="0" tIns="0" rIns="0" bIns="0" rtlCol="0" anchor="ctr"/>
          <a:lstStyle/>
          <a:p>
            <a:pPr algn="ctr" indent="0" marL="0">
              <a:buNone/>
            </a:pPr>
            <a:r>
              <a:rPr lang="en-US" sz="1050" dirty="0">
                <a:solidFill>
                  <a:srgbClr val="8B99AB"/>
                </a:solidFill>
                <a:latin typeface="Meiryo" pitchFamily="34" charset="0"/>
                <a:ea typeface="Meiryo" pitchFamily="34" charset="-122"/>
                <a:cs typeface="Meiryo" pitchFamily="34" charset="-120"/>
              </a:rPr>
              <a:t>ダッシュボード表示イメージ</a:t>
            </a:r>
            <a:endParaRPr lang="en-US" sz="1050" dirty="0"/>
          </a:p>
        </p:txBody>
      </p:sp>
      <p:sp>
        <p:nvSpPr>
          <p:cNvPr id="19" name="Text 17"/>
          <p:cNvSpPr txBox="1"/>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8B99AB"/>
                </a:solidFill>
                <a:latin typeface="Meiryo" pitchFamily="34" charset="0"/>
                <a:ea typeface="Meiryo" pitchFamily="34" charset="-122"/>
                <a:cs typeface="Meiryo" pitchFamily="34" charset="-120"/>
              </a:rPr>
              <a:t>4</a:t>
            </a:r>
            <a:endParaRPr lang="en-US" sz="1000" dirty="0"/>
          </a:p>
        </p:txBody>
      </p:sp>
      <p:sp>
        <p:nvSpPr>
          <p:cNvPr id="20" name="Text 18"/>
          <p:cNvSpPr txBox="1"/>
          <p:nvPr/>
        </p:nvSpPr>
        <p:spPr>
          <a:xfrm>
            <a:off x="640080" y="6291072"/>
            <a:ext cx="1828800" cy="274320"/>
          </a:xfrm>
          <a:prstGeom prst="rect">
            <a:avLst/>
          </a:prstGeom>
          <a:noFill/>
          <a:ln/>
        </p:spPr>
        <p:txBody>
          <a:bodyPr wrap="square" lIns="0" tIns="0" rIns="0" bIns="0" rtlCol="0" anchor="ctr"/>
          <a:lstStyle/>
          <a:p>
            <a:pPr indent="0" marL="0">
              <a:buNone/>
            </a:pPr>
            <a:r>
              <a:rPr lang="en-US" sz="1000" b="1" dirty="0">
                <a:solidFill>
                  <a:srgbClr val="8B99AB"/>
                </a:solidFill>
                <a:latin typeface="Meiryo" pitchFamily="34" charset="0"/>
                <a:ea typeface="Meiryo" pitchFamily="34" charset="-122"/>
                <a:cs typeface="Meiryo" pitchFamily="34" charset="-120"/>
              </a:rPr>
              <a:t>Hittatsu</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566928"/>
          </a:xfrm>
          <a:prstGeom prst="rect">
            <a:avLst/>
          </a:prstGeom>
          <a:noFill/>
          <a:ln/>
        </p:spPr>
        <p:txBody>
          <a:bodyPr wrap="square" lIns="0" tIns="0" rIns="0" bIns="0" rtlCol="0" anchor="ctr"/>
          <a:lstStyle/>
          <a:p>
            <a:pPr indent="0" marL="0">
              <a:buNone/>
            </a:pPr>
            <a:r>
              <a:rPr lang="en-US" sz="3000" b="1" dirty="0">
                <a:solidFill>
                  <a:srgbClr val="0C2340"/>
                </a:solidFill>
                <a:latin typeface="Meiryo" pitchFamily="34" charset="0"/>
                <a:ea typeface="Meiryo" pitchFamily="34" charset="-122"/>
                <a:cs typeface="Meiryo" pitchFamily="34" charset="-120"/>
              </a:rPr>
              <a:t>主要機能</a:t>
            </a:r>
            <a:endParaRPr lang="en-US" sz="3000" dirty="0"/>
          </a:p>
        </p:txBody>
      </p:sp>
      <p:sp>
        <p:nvSpPr>
          <p:cNvPr id="3" name="Text 1"/>
          <p:cNvSpPr txBox="1"/>
          <p:nvPr/>
        </p:nvSpPr>
        <p:spPr>
          <a:xfrm>
            <a:off x="640080" y="1078992"/>
            <a:ext cx="10911535" cy="329184"/>
          </a:xfrm>
          <a:prstGeom prst="rect">
            <a:avLst/>
          </a:prstGeom>
          <a:noFill/>
          <a:ln/>
        </p:spPr>
        <p:txBody>
          <a:bodyPr wrap="square" lIns="0" tIns="0" rIns="0" bIns="0" rtlCol="0" anchor="ctr"/>
          <a:lstStyle/>
          <a:p>
            <a:pPr indent="0" marL="0">
              <a:buNone/>
            </a:pPr>
            <a:r>
              <a:rPr lang="en-US" sz="1300" dirty="0">
                <a:solidFill>
                  <a:srgbClr val="5A6B80"/>
                </a:solidFill>
                <a:latin typeface="Meiryo" pitchFamily="34" charset="0"/>
                <a:ea typeface="Meiryo" pitchFamily="34" charset="-122"/>
                <a:cs typeface="Meiryo" pitchFamily="34" charset="-120"/>
              </a:rPr>
              <a:t>4つの画面と2つの自動通知で、チームの週次サイクルを回す</a:t>
            </a:r>
            <a:endParaRPr lang="en-US" sz="1300" dirty="0"/>
          </a:p>
        </p:txBody>
      </p:sp>
      <p:sp>
        <p:nvSpPr>
          <p:cNvPr id="4" name="Shape 2"/>
          <p:cNvSpPr/>
          <p:nvPr/>
        </p:nvSpPr>
        <p:spPr>
          <a:xfrm>
            <a:off x="640080" y="1874520"/>
            <a:ext cx="3454298" cy="1508760"/>
          </a:xfrm>
          <a:prstGeom prst="roundRect">
            <a:avLst>
              <a:gd name="adj" fmla="val 7273"/>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5" name="Shape 3"/>
          <p:cNvSpPr/>
          <p:nvPr/>
        </p:nvSpPr>
        <p:spPr>
          <a:xfrm>
            <a:off x="896112" y="2167128"/>
            <a:ext cx="566928" cy="566928"/>
          </a:xfrm>
          <a:prstGeom prst="ellipse">
            <a:avLst/>
          </a:prstGeom>
          <a:solidFill>
            <a:srgbClr val="EEF3FA"/>
          </a:solidFill>
          <a:ln w="12700">
            <a:solidFill>
              <a:srgbClr val="DBE7F5"/>
            </a:solidFill>
            <a:prstDash val="solid"/>
          </a:ln>
        </p:spPr>
      </p:sp>
      <p:pic>
        <p:nvPicPr>
          <p:cNvPr id="6" name="Image 0" descr="preencoded.png">    </p:cNvPr>
          <p:cNvPicPr>
            <a:picLocks noChangeAspect="1"/>
          </p:cNvPicPr>
          <p:nvPr/>
        </p:nvPicPr>
        <p:blipFill>
          <a:blip r:embed="rId1"/>
          <a:stretch>
            <a:fillRect/>
          </a:stretch>
        </p:blipFill>
        <p:spPr>
          <a:xfrm>
            <a:off x="1033272" y="2304288"/>
            <a:ext cx="292608" cy="292608"/>
          </a:xfrm>
          <a:prstGeom prst="rect">
            <a:avLst/>
          </a:prstGeom>
        </p:spPr>
      </p:pic>
      <p:sp>
        <p:nvSpPr>
          <p:cNvPr id="7" name="Text 4"/>
          <p:cNvSpPr txBox="1"/>
          <p:nvPr/>
        </p:nvSpPr>
        <p:spPr>
          <a:xfrm>
            <a:off x="1572768" y="2148840"/>
            <a:ext cx="2265578" cy="384048"/>
          </a:xfrm>
          <a:prstGeom prst="rect">
            <a:avLst/>
          </a:prstGeom>
          <a:noFill/>
          <a:ln/>
        </p:spPr>
        <p:txBody>
          <a:bodyPr wrap="square" lIns="0" tIns="0" rIns="0" bIns="0" rtlCol="0" anchor="ctr"/>
          <a:lstStyle/>
          <a:p>
            <a:pPr indent="0" marL="0">
              <a:buNone/>
            </a:pPr>
            <a:r>
              <a:rPr lang="en-US" sz="1500" b="1" dirty="0">
                <a:solidFill>
                  <a:srgbClr val="0C2340"/>
                </a:solidFill>
                <a:latin typeface="Meiryo" pitchFamily="34" charset="0"/>
                <a:ea typeface="Meiryo" pitchFamily="34" charset="-122"/>
                <a:cs typeface="Meiryo" pitchFamily="34" charset="-120"/>
              </a:rPr>
              <a:t>ダッシュボード</a:t>
            </a:r>
            <a:endParaRPr lang="en-US" sz="1500" dirty="0"/>
          </a:p>
        </p:txBody>
      </p:sp>
      <p:sp>
        <p:nvSpPr>
          <p:cNvPr id="8" name="Text 5"/>
          <p:cNvSpPr txBox="1"/>
          <p:nvPr/>
        </p:nvSpPr>
        <p:spPr>
          <a:xfrm>
            <a:off x="896112" y="2651760"/>
            <a:ext cx="2942234" cy="621792"/>
          </a:xfrm>
          <a:prstGeom prst="rect">
            <a:avLst/>
          </a:prstGeom>
          <a:noFill/>
          <a:ln/>
        </p:spPr>
        <p:txBody>
          <a:bodyPr wrap="square" lIns="0" tIns="0" rIns="0" bIns="0" rtlCol="0" anchor="ctr"/>
          <a:lstStyle/>
          <a:p>
            <a:pPr indent="0" marL="0">
              <a:lnSpc>
                <a:spcPts val="1800"/>
              </a:lnSpc>
              <a:buNone/>
            </a:pPr>
            <a:r>
              <a:rPr lang="en-US" sz="1150" dirty="0">
                <a:solidFill>
                  <a:srgbClr val="5A6B80"/>
                </a:solidFill>
                <a:latin typeface="Meiryo" pitchFamily="34" charset="0"/>
                <a:ea typeface="Meiryo" pitchFamily="34" charset="-122"/>
                <a:cs typeface="Meiryo" pitchFamily="34" charset="-120"/>
              </a:rPr>
              <a:t>KPI・メンバー別進捗・プロジェクト進捗を1画面に集約</a:t>
            </a:r>
            <a:endParaRPr lang="en-US" sz="1150" dirty="0"/>
          </a:p>
        </p:txBody>
      </p:sp>
      <p:sp>
        <p:nvSpPr>
          <p:cNvPr id="9" name="Shape 6"/>
          <p:cNvSpPr/>
          <p:nvPr/>
        </p:nvSpPr>
        <p:spPr>
          <a:xfrm>
            <a:off x="4368698" y="1874520"/>
            <a:ext cx="3454298" cy="1508760"/>
          </a:xfrm>
          <a:prstGeom prst="roundRect">
            <a:avLst>
              <a:gd name="adj" fmla="val 7273"/>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0" name="Shape 7"/>
          <p:cNvSpPr/>
          <p:nvPr/>
        </p:nvSpPr>
        <p:spPr>
          <a:xfrm>
            <a:off x="4624730" y="2167128"/>
            <a:ext cx="566928" cy="566928"/>
          </a:xfrm>
          <a:prstGeom prst="ellipse">
            <a:avLst/>
          </a:prstGeom>
          <a:solidFill>
            <a:srgbClr val="EEF3FA"/>
          </a:solidFill>
          <a:ln w="12700">
            <a:solidFill>
              <a:srgbClr val="DBE7F5"/>
            </a:solidFill>
            <a:prstDash val="solid"/>
          </a:ln>
        </p:spPr>
      </p:sp>
      <p:pic>
        <p:nvPicPr>
          <p:cNvPr id="11" name="Image 1" descr="preencoded.png">    </p:cNvPr>
          <p:cNvPicPr>
            <a:picLocks noChangeAspect="1"/>
          </p:cNvPicPr>
          <p:nvPr/>
        </p:nvPicPr>
        <p:blipFill>
          <a:blip r:embed="rId2"/>
          <a:stretch>
            <a:fillRect/>
          </a:stretch>
        </p:blipFill>
        <p:spPr>
          <a:xfrm>
            <a:off x="4761890" y="2304288"/>
            <a:ext cx="292608" cy="292608"/>
          </a:xfrm>
          <a:prstGeom prst="rect">
            <a:avLst/>
          </a:prstGeom>
        </p:spPr>
      </p:pic>
      <p:sp>
        <p:nvSpPr>
          <p:cNvPr id="12" name="Text 8"/>
          <p:cNvSpPr txBox="1"/>
          <p:nvPr/>
        </p:nvSpPr>
        <p:spPr>
          <a:xfrm>
            <a:off x="5301386" y="2148840"/>
            <a:ext cx="2265578" cy="384048"/>
          </a:xfrm>
          <a:prstGeom prst="rect">
            <a:avLst/>
          </a:prstGeom>
          <a:noFill/>
          <a:ln/>
        </p:spPr>
        <p:txBody>
          <a:bodyPr wrap="square" lIns="0" tIns="0" rIns="0" bIns="0" rtlCol="0" anchor="ctr"/>
          <a:lstStyle/>
          <a:p>
            <a:pPr indent="0" marL="0">
              <a:buNone/>
            </a:pPr>
            <a:r>
              <a:rPr lang="en-US" sz="1500" b="1" dirty="0">
                <a:solidFill>
                  <a:srgbClr val="0C2340"/>
                </a:solidFill>
                <a:latin typeface="Meiryo" pitchFamily="34" charset="0"/>
                <a:ea typeface="Meiryo" pitchFamily="34" charset="-122"/>
                <a:cs typeface="Meiryo" pitchFamily="34" charset="-120"/>
              </a:rPr>
              <a:t>プロジェクト管理</a:t>
            </a:r>
            <a:endParaRPr lang="en-US" sz="1500" dirty="0"/>
          </a:p>
        </p:txBody>
      </p:sp>
      <p:sp>
        <p:nvSpPr>
          <p:cNvPr id="13" name="Text 9"/>
          <p:cNvSpPr txBox="1"/>
          <p:nvPr/>
        </p:nvSpPr>
        <p:spPr>
          <a:xfrm>
            <a:off x="4624730" y="2651760"/>
            <a:ext cx="2942234" cy="621792"/>
          </a:xfrm>
          <a:prstGeom prst="rect">
            <a:avLst/>
          </a:prstGeom>
          <a:noFill/>
          <a:ln/>
        </p:spPr>
        <p:txBody>
          <a:bodyPr wrap="square" lIns="0" tIns="0" rIns="0" bIns="0" rtlCol="0" anchor="ctr"/>
          <a:lstStyle/>
          <a:p>
            <a:pPr indent="0" marL="0">
              <a:lnSpc>
                <a:spcPts val="1800"/>
              </a:lnSpc>
              <a:buNone/>
            </a:pPr>
            <a:r>
              <a:rPr lang="en-US" sz="1150" dirty="0">
                <a:solidFill>
                  <a:srgbClr val="5A6B80"/>
                </a:solidFill>
                <a:latin typeface="Meiryo" pitchFamily="34" charset="0"/>
                <a:ea typeface="Meiryo" pitchFamily="34" charset="-122"/>
                <a:cs typeface="Meiryo" pitchFamily="34" charset="-120"/>
              </a:rPr>
              <a:t>階層的にタスクを分解。進捗率は下位タスクから自動算出</a:t>
            </a:r>
            <a:endParaRPr lang="en-US" sz="1150" dirty="0"/>
          </a:p>
        </p:txBody>
      </p:sp>
      <p:sp>
        <p:nvSpPr>
          <p:cNvPr id="14" name="Shape 10"/>
          <p:cNvSpPr/>
          <p:nvPr/>
        </p:nvSpPr>
        <p:spPr>
          <a:xfrm>
            <a:off x="8097317" y="1874520"/>
            <a:ext cx="3454298" cy="1508760"/>
          </a:xfrm>
          <a:prstGeom prst="roundRect">
            <a:avLst>
              <a:gd name="adj" fmla="val 7273"/>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5" name="Shape 11"/>
          <p:cNvSpPr/>
          <p:nvPr/>
        </p:nvSpPr>
        <p:spPr>
          <a:xfrm>
            <a:off x="8353349" y="2167128"/>
            <a:ext cx="566928" cy="566928"/>
          </a:xfrm>
          <a:prstGeom prst="ellipse">
            <a:avLst/>
          </a:prstGeom>
          <a:solidFill>
            <a:srgbClr val="EEF3FA"/>
          </a:solidFill>
          <a:ln w="12700">
            <a:solidFill>
              <a:srgbClr val="DBE7F5"/>
            </a:solidFill>
            <a:prstDash val="solid"/>
          </a:ln>
        </p:spPr>
      </p:sp>
      <p:pic>
        <p:nvPicPr>
          <p:cNvPr id="16" name="Image 2" descr="preencoded.png">    </p:cNvPr>
          <p:cNvPicPr>
            <a:picLocks noChangeAspect="1"/>
          </p:cNvPicPr>
          <p:nvPr/>
        </p:nvPicPr>
        <p:blipFill>
          <a:blip r:embed="rId3"/>
          <a:stretch>
            <a:fillRect/>
          </a:stretch>
        </p:blipFill>
        <p:spPr>
          <a:xfrm>
            <a:off x="8490509" y="2304288"/>
            <a:ext cx="292608" cy="292608"/>
          </a:xfrm>
          <a:prstGeom prst="rect">
            <a:avLst/>
          </a:prstGeom>
        </p:spPr>
      </p:pic>
      <p:sp>
        <p:nvSpPr>
          <p:cNvPr id="17" name="Text 12"/>
          <p:cNvSpPr txBox="1"/>
          <p:nvPr/>
        </p:nvSpPr>
        <p:spPr>
          <a:xfrm>
            <a:off x="9030005" y="2148840"/>
            <a:ext cx="2265578" cy="384048"/>
          </a:xfrm>
          <a:prstGeom prst="rect">
            <a:avLst/>
          </a:prstGeom>
          <a:noFill/>
          <a:ln/>
        </p:spPr>
        <p:txBody>
          <a:bodyPr wrap="square" lIns="0" tIns="0" rIns="0" bIns="0" rtlCol="0" anchor="ctr"/>
          <a:lstStyle/>
          <a:p>
            <a:pPr indent="0" marL="0">
              <a:buNone/>
            </a:pPr>
            <a:r>
              <a:rPr lang="en-US" sz="1500" b="1" dirty="0">
                <a:solidFill>
                  <a:srgbClr val="0C2340"/>
                </a:solidFill>
                <a:latin typeface="Meiryo" pitchFamily="34" charset="0"/>
                <a:ea typeface="Meiryo" pitchFamily="34" charset="-122"/>
                <a:cs typeface="Meiryo" pitchFamily="34" charset="-120"/>
              </a:rPr>
              <a:t>週間カレンダー</a:t>
            </a:r>
            <a:endParaRPr lang="en-US" sz="1500" dirty="0"/>
          </a:p>
        </p:txBody>
      </p:sp>
      <p:sp>
        <p:nvSpPr>
          <p:cNvPr id="18" name="Text 13"/>
          <p:cNvSpPr txBox="1"/>
          <p:nvPr/>
        </p:nvSpPr>
        <p:spPr>
          <a:xfrm>
            <a:off x="8353349" y="2651760"/>
            <a:ext cx="2942234" cy="621792"/>
          </a:xfrm>
          <a:prstGeom prst="rect">
            <a:avLst/>
          </a:prstGeom>
          <a:noFill/>
          <a:ln/>
        </p:spPr>
        <p:txBody>
          <a:bodyPr wrap="square" lIns="0" tIns="0" rIns="0" bIns="0" rtlCol="0" anchor="ctr"/>
          <a:lstStyle/>
          <a:p>
            <a:pPr indent="0" marL="0">
              <a:lnSpc>
                <a:spcPts val="1800"/>
              </a:lnSpc>
              <a:buNone/>
            </a:pPr>
            <a:r>
              <a:rPr lang="en-US" sz="1150" dirty="0">
                <a:solidFill>
                  <a:srgbClr val="5A6B80"/>
                </a:solidFill>
                <a:latin typeface="Meiryo" pitchFamily="34" charset="0"/>
                <a:ea typeface="Meiryo" pitchFamily="34" charset="-122"/>
                <a:cs typeface="Meiryo" pitchFamily="34" charset="-120"/>
              </a:rPr>
              <a:t>Googleカレンダー連携。ドラッグ&amp;ドロップで時刻を調整</a:t>
            </a:r>
            <a:endParaRPr lang="en-US" sz="1150" dirty="0"/>
          </a:p>
        </p:txBody>
      </p:sp>
      <p:sp>
        <p:nvSpPr>
          <p:cNvPr id="19" name="Shape 14"/>
          <p:cNvSpPr/>
          <p:nvPr/>
        </p:nvSpPr>
        <p:spPr>
          <a:xfrm>
            <a:off x="640080" y="3657600"/>
            <a:ext cx="3454298" cy="1508760"/>
          </a:xfrm>
          <a:prstGeom prst="roundRect">
            <a:avLst>
              <a:gd name="adj" fmla="val 7273"/>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20" name="Shape 15"/>
          <p:cNvSpPr/>
          <p:nvPr/>
        </p:nvSpPr>
        <p:spPr>
          <a:xfrm>
            <a:off x="896112" y="3950208"/>
            <a:ext cx="566928" cy="566928"/>
          </a:xfrm>
          <a:prstGeom prst="ellipse">
            <a:avLst/>
          </a:prstGeom>
          <a:solidFill>
            <a:srgbClr val="EEF3FA"/>
          </a:solidFill>
          <a:ln w="12700">
            <a:solidFill>
              <a:srgbClr val="DBE7F5"/>
            </a:solidFill>
            <a:prstDash val="solid"/>
          </a:ln>
        </p:spPr>
      </p:sp>
      <p:pic>
        <p:nvPicPr>
          <p:cNvPr id="21" name="Image 3" descr="preencoded.png">    </p:cNvPr>
          <p:cNvPicPr>
            <a:picLocks noChangeAspect="1"/>
          </p:cNvPicPr>
          <p:nvPr/>
        </p:nvPicPr>
        <p:blipFill>
          <a:blip r:embed="rId4"/>
          <a:stretch>
            <a:fillRect/>
          </a:stretch>
        </p:blipFill>
        <p:spPr>
          <a:xfrm>
            <a:off x="1033272" y="4087368"/>
            <a:ext cx="292608" cy="292608"/>
          </a:xfrm>
          <a:prstGeom prst="rect">
            <a:avLst/>
          </a:prstGeom>
        </p:spPr>
      </p:pic>
      <p:sp>
        <p:nvSpPr>
          <p:cNvPr id="22" name="Text 16"/>
          <p:cNvSpPr txBox="1"/>
          <p:nvPr/>
        </p:nvSpPr>
        <p:spPr>
          <a:xfrm>
            <a:off x="1572768" y="3931920"/>
            <a:ext cx="2265578" cy="384048"/>
          </a:xfrm>
          <a:prstGeom prst="rect">
            <a:avLst/>
          </a:prstGeom>
          <a:noFill/>
          <a:ln/>
        </p:spPr>
        <p:txBody>
          <a:bodyPr wrap="square" lIns="0" tIns="0" rIns="0" bIns="0" rtlCol="0" anchor="ctr"/>
          <a:lstStyle/>
          <a:p>
            <a:pPr indent="0" marL="0">
              <a:buNone/>
            </a:pPr>
            <a:r>
              <a:rPr lang="en-US" sz="1500" b="1" dirty="0">
                <a:solidFill>
                  <a:srgbClr val="0C2340"/>
                </a:solidFill>
                <a:latin typeface="Meiryo" pitchFamily="34" charset="0"/>
                <a:ea typeface="Meiryo" pitchFamily="34" charset="-122"/>
                <a:cs typeface="Meiryo" pitchFamily="34" charset="-120"/>
              </a:rPr>
              <a:t>メンバー別週報</a:t>
            </a:r>
            <a:endParaRPr lang="en-US" sz="1500" dirty="0"/>
          </a:p>
        </p:txBody>
      </p:sp>
      <p:sp>
        <p:nvSpPr>
          <p:cNvPr id="23" name="Text 17"/>
          <p:cNvSpPr txBox="1"/>
          <p:nvPr/>
        </p:nvSpPr>
        <p:spPr>
          <a:xfrm>
            <a:off x="896112" y="4434840"/>
            <a:ext cx="2942234" cy="621792"/>
          </a:xfrm>
          <a:prstGeom prst="rect">
            <a:avLst/>
          </a:prstGeom>
          <a:noFill/>
          <a:ln/>
        </p:spPr>
        <p:txBody>
          <a:bodyPr wrap="square" lIns="0" tIns="0" rIns="0" bIns="0" rtlCol="0" anchor="ctr"/>
          <a:lstStyle/>
          <a:p>
            <a:pPr indent="0" marL="0">
              <a:lnSpc>
                <a:spcPts val="1800"/>
              </a:lnSpc>
              <a:buNone/>
            </a:pPr>
            <a:r>
              <a:rPr lang="en-US" sz="1150" dirty="0">
                <a:solidFill>
                  <a:srgbClr val="5A6B80"/>
                </a:solidFill>
                <a:latin typeface="Meiryo" pitchFamily="34" charset="0"/>
                <a:ea typeface="Meiryo" pitchFamily="34" charset="-122"/>
                <a:cs typeface="Meiryo" pitchFamily="34" charset="-120"/>
              </a:rPr>
              <a:t>KPT形式で振り返り。印刷・PDF出力にも対応</a:t>
            </a:r>
            <a:endParaRPr lang="en-US" sz="1150" dirty="0"/>
          </a:p>
        </p:txBody>
      </p:sp>
      <p:sp>
        <p:nvSpPr>
          <p:cNvPr id="24" name="Shape 18"/>
          <p:cNvSpPr/>
          <p:nvPr/>
        </p:nvSpPr>
        <p:spPr>
          <a:xfrm>
            <a:off x="4368698" y="3657600"/>
            <a:ext cx="3454298" cy="1508760"/>
          </a:xfrm>
          <a:prstGeom prst="roundRect">
            <a:avLst>
              <a:gd name="adj" fmla="val 7273"/>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25" name="Shape 19"/>
          <p:cNvSpPr/>
          <p:nvPr/>
        </p:nvSpPr>
        <p:spPr>
          <a:xfrm>
            <a:off x="4624730" y="3950208"/>
            <a:ext cx="566928" cy="566928"/>
          </a:xfrm>
          <a:prstGeom prst="ellipse">
            <a:avLst/>
          </a:prstGeom>
          <a:solidFill>
            <a:srgbClr val="EEF3FA"/>
          </a:solidFill>
          <a:ln w="12700">
            <a:solidFill>
              <a:srgbClr val="DBE7F5"/>
            </a:solidFill>
            <a:prstDash val="solid"/>
          </a:ln>
        </p:spPr>
      </p:sp>
      <p:pic>
        <p:nvPicPr>
          <p:cNvPr id="26" name="Image 4" descr="preencoded.png">    </p:cNvPr>
          <p:cNvPicPr>
            <a:picLocks noChangeAspect="1"/>
          </p:cNvPicPr>
          <p:nvPr/>
        </p:nvPicPr>
        <p:blipFill>
          <a:blip r:embed="rId5"/>
          <a:stretch>
            <a:fillRect/>
          </a:stretch>
        </p:blipFill>
        <p:spPr>
          <a:xfrm>
            <a:off x="4761890" y="4087368"/>
            <a:ext cx="292608" cy="292608"/>
          </a:xfrm>
          <a:prstGeom prst="rect">
            <a:avLst/>
          </a:prstGeom>
        </p:spPr>
      </p:pic>
      <p:sp>
        <p:nvSpPr>
          <p:cNvPr id="27" name="Text 20"/>
          <p:cNvSpPr txBox="1"/>
          <p:nvPr/>
        </p:nvSpPr>
        <p:spPr>
          <a:xfrm>
            <a:off x="5301386" y="3931920"/>
            <a:ext cx="2265578" cy="384048"/>
          </a:xfrm>
          <a:prstGeom prst="rect">
            <a:avLst/>
          </a:prstGeom>
          <a:noFill/>
          <a:ln/>
        </p:spPr>
        <p:txBody>
          <a:bodyPr wrap="square" lIns="0" tIns="0" rIns="0" bIns="0" rtlCol="0" anchor="ctr"/>
          <a:lstStyle/>
          <a:p>
            <a:pPr indent="0" marL="0">
              <a:buNone/>
            </a:pPr>
            <a:r>
              <a:rPr lang="en-US" sz="1500" b="1" dirty="0">
                <a:solidFill>
                  <a:srgbClr val="0C2340"/>
                </a:solidFill>
                <a:latin typeface="Meiryo" pitchFamily="34" charset="0"/>
                <a:ea typeface="Meiryo" pitchFamily="34" charset="-122"/>
                <a:cs typeface="Meiryo" pitchFamily="34" charset="-120"/>
              </a:rPr>
              <a:t>自動通知メール</a:t>
            </a:r>
            <a:endParaRPr lang="en-US" sz="1500" dirty="0"/>
          </a:p>
        </p:txBody>
      </p:sp>
      <p:sp>
        <p:nvSpPr>
          <p:cNvPr id="28" name="Text 21"/>
          <p:cNvSpPr txBox="1"/>
          <p:nvPr/>
        </p:nvSpPr>
        <p:spPr>
          <a:xfrm>
            <a:off x="4624730" y="4434840"/>
            <a:ext cx="2942234" cy="621792"/>
          </a:xfrm>
          <a:prstGeom prst="rect">
            <a:avLst/>
          </a:prstGeom>
          <a:noFill/>
          <a:ln/>
        </p:spPr>
        <p:txBody>
          <a:bodyPr wrap="square" lIns="0" tIns="0" rIns="0" bIns="0" rtlCol="0" anchor="ctr"/>
          <a:lstStyle/>
          <a:p>
            <a:pPr indent="0" marL="0">
              <a:lnSpc>
                <a:spcPts val="1800"/>
              </a:lnSpc>
              <a:buNone/>
            </a:pPr>
            <a:r>
              <a:rPr lang="en-US" sz="1150" dirty="0">
                <a:solidFill>
                  <a:srgbClr val="5A6B80"/>
                </a:solidFill>
                <a:latin typeface="Meiryo" pitchFamily="34" charset="0"/>
                <a:ea typeface="Meiryo" pitchFamily="34" charset="-122"/>
                <a:cs typeface="Meiryo" pitchFamily="34" charset="-120"/>
              </a:rPr>
              <a:t>タスク完了通知と、開始10分前のリマインドを自動送信</a:t>
            </a:r>
            <a:endParaRPr lang="en-US" sz="1150" dirty="0"/>
          </a:p>
        </p:txBody>
      </p:sp>
      <p:sp>
        <p:nvSpPr>
          <p:cNvPr id="29" name="Shape 22"/>
          <p:cNvSpPr/>
          <p:nvPr/>
        </p:nvSpPr>
        <p:spPr>
          <a:xfrm>
            <a:off x="8097317" y="3657600"/>
            <a:ext cx="3454298" cy="1508760"/>
          </a:xfrm>
          <a:prstGeom prst="roundRect">
            <a:avLst>
              <a:gd name="adj" fmla="val 7273"/>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30" name="Shape 23"/>
          <p:cNvSpPr/>
          <p:nvPr/>
        </p:nvSpPr>
        <p:spPr>
          <a:xfrm>
            <a:off x="8353349" y="3950208"/>
            <a:ext cx="566928" cy="566928"/>
          </a:xfrm>
          <a:prstGeom prst="ellipse">
            <a:avLst/>
          </a:prstGeom>
          <a:solidFill>
            <a:srgbClr val="EEF3FA"/>
          </a:solidFill>
          <a:ln w="12700">
            <a:solidFill>
              <a:srgbClr val="DBE7F5"/>
            </a:solidFill>
            <a:prstDash val="solid"/>
          </a:ln>
        </p:spPr>
      </p:sp>
      <p:pic>
        <p:nvPicPr>
          <p:cNvPr id="31" name="Image 5" descr="preencoded.png">    </p:cNvPr>
          <p:cNvPicPr>
            <a:picLocks noChangeAspect="1"/>
          </p:cNvPicPr>
          <p:nvPr/>
        </p:nvPicPr>
        <p:blipFill>
          <a:blip r:embed="rId6"/>
          <a:stretch>
            <a:fillRect/>
          </a:stretch>
        </p:blipFill>
        <p:spPr>
          <a:xfrm>
            <a:off x="8490509" y="4087368"/>
            <a:ext cx="292608" cy="292608"/>
          </a:xfrm>
          <a:prstGeom prst="rect">
            <a:avLst/>
          </a:prstGeom>
        </p:spPr>
      </p:pic>
      <p:sp>
        <p:nvSpPr>
          <p:cNvPr id="32" name="Text 24"/>
          <p:cNvSpPr txBox="1"/>
          <p:nvPr/>
        </p:nvSpPr>
        <p:spPr>
          <a:xfrm>
            <a:off x="9030005" y="3931920"/>
            <a:ext cx="2265578" cy="384048"/>
          </a:xfrm>
          <a:prstGeom prst="rect">
            <a:avLst/>
          </a:prstGeom>
          <a:noFill/>
          <a:ln/>
        </p:spPr>
        <p:txBody>
          <a:bodyPr wrap="square" lIns="0" tIns="0" rIns="0" bIns="0" rtlCol="0" anchor="ctr"/>
          <a:lstStyle/>
          <a:p>
            <a:pPr indent="0" marL="0">
              <a:buNone/>
            </a:pPr>
            <a:r>
              <a:rPr lang="en-US" sz="1500" b="1" dirty="0">
                <a:solidFill>
                  <a:srgbClr val="0C2340"/>
                </a:solidFill>
                <a:latin typeface="Meiryo" pitchFamily="34" charset="0"/>
                <a:ea typeface="Meiryo" pitchFamily="34" charset="-122"/>
                <a:cs typeface="Meiryo" pitchFamily="34" charset="-120"/>
              </a:rPr>
              <a:t>リアルタイム同期</a:t>
            </a:r>
            <a:endParaRPr lang="en-US" sz="1500" dirty="0"/>
          </a:p>
        </p:txBody>
      </p:sp>
      <p:sp>
        <p:nvSpPr>
          <p:cNvPr id="33" name="Text 25"/>
          <p:cNvSpPr txBox="1"/>
          <p:nvPr/>
        </p:nvSpPr>
        <p:spPr>
          <a:xfrm>
            <a:off x="8353349" y="4434840"/>
            <a:ext cx="2942234" cy="621792"/>
          </a:xfrm>
          <a:prstGeom prst="rect">
            <a:avLst/>
          </a:prstGeom>
          <a:noFill/>
          <a:ln/>
        </p:spPr>
        <p:txBody>
          <a:bodyPr wrap="square" lIns="0" tIns="0" rIns="0" bIns="0" rtlCol="0" anchor="ctr"/>
          <a:lstStyle/>
          <a:p>
            <a:pPr indent="0" marL="0">
              <a:lnSpc>
                <a:spcPts val="1800"/>
              </a:lnSpc>
              <a:buNone/>
            </a:pPr>
            <a:r>
              <a:rPr lang="en-US" sz="1150" dirty="0">
                <a:solidFill>
                  <a:srgbClr val="5A6B80"/>
                </a:solidFill>
                <a:latin typeface="Meiryo" pitchFamily="34" charset="0"/>
                <a:ea typeface="Meiryo" pitchFamily="34" charset="-122"/>
                <a:cs typeface="Meiryo" pitchFamily="34" charset="-120"/>
              </a:rPr>
              <a:t>Firestoreで即時反映。招待URLを開くだけで参加できる</a:t>
            </a:r>
            <a:endParaRPr lang="en-US" sz="1150" dirty="0"/>
          </a:p>
        </p:txBody>
      </p:sp>
      <p:sp>
        <p:nvSpPr>
          <p:cNvPr id="34" name="Text 26"/>
          <p:cNvSpPr txBox="1"/>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8B99AB"/>
                </a:solidFill>
                <a:latin typeface="Meiryo" pitchFamily="34" charset="0"/>
                <a:ea typeface="Meiryo" pitchFamily="34" charset="-122"/>
                <a:cs typeface="Meiryo" pitchFamily="34" charset="-120"/>
              </a:rPr>
              <a:t>5</a:t>
            </a:r>
            <a:endParaRPr lang="en-US" sz="1000" dirty="0"/>
          </a:p>
        </p:txBody>
      </p:sp>
      <p:sp>
        <p:nvSpPr>
          <p:cNvPr id="35" name="Text 27"/>
          <p:cNvSpPr txBox="1"/>
          <p:nvPr/>
        </p:nvSpPr>
        <p:spPr>
          <a:xfrm>
            <a:off x="640080" y="6291072"/>
            <a:ext cx="1828800" cy="274320"/>
          </a:xfrm>
          <a:prstGeom prst="rect">
            <a:avLst/>
          </a:prstGeom>
          <a:noFill/>
          <a:ln/>
        </p:spPr>
        <p:txBody>
          <a:bodyPr wrap="square" lIns="0" tIns="0" rIns="0" bIns="0" rtlCol="0" anchor="ctr"/>
          <a:lstStyle/>
          <a:p>
            <a:pPr indent="0" marL="0">
              <a:buNone/>
            </a:pPr>
            <a:r>
              <a:rPr lang="en-US" sz="1000" b="1" dirty="0">
                <a:solidFill>
                  <a:srgbClr val="8B99AB"/>
                </a:solidFill>
                <a:latin typeface="Meiryo" pitchFamily="34" charset="0"/>
                <a:ea typeface="Meiryo" pitchFamily="34" charset="-122"/>
                <a:cs typeface="Meiryo" pitchFamily="34" charset="-120"/>
              </a:rPr>
              <a:t>Hittatsu</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566928"/>
          </a:xfrm>
          <a:prstGeom prst="rect">
            <a:avLst/>
          </a:prstGeom>
          <a:noFill/>
          <a:ln/>
        </p:spPr>
        <p:txBody>
          <a:bodyPr wrap="square" lIns="0" tIns="0" rIns="0" bIns="0" rtlCol="0" anchor="ctr"/>
          <a:lstStyle/>
          <a:p>
            <a:pPr indent="0" marL="0">
              <a:buNone/>
            </a:pPr>
            <a:r>
              <a:rPr lang="en-US" sz="3000" b="1" dirty="0">
                <a:solidFill>
                  <a:srgbClr val="0C2340"/>
                </a:solidFill>
                <a:latin typeface="Meiryo" pitchFamily="34" charset="0"/>
                <a:ea typeface="Meiryo" pitchFamily="34" charset="-122"/>
                <a:cs typeface="Meiryo" pitchFamily="34" charset="-120"/>
              </a:rPr>
              <a:t>画面イメージ</a:t>
            </a:r>
            <a:endParaRPr lang="en-US" sz="3000" dirty="0"/>
          </a:p>
        </p:txBody>
      </p:sp>
      <p:sp>
        <p:nvSpPr>
          <p:cNvPr id="3" name="Text 1"/>
          <p:cNvSpPr txBox="1"/>
          <p:nvPr/>
        </p:nvSpPr>
        <p:spPr>
          <a:xfrm>
            <a:off x="640080" y="1078992"/>
            <a:ext cx="10911535" cy="329184"/>
          </a:xfrm>
          <a:prstGeom prst="rect">
            <a:avLst/>
          </a:prstGeom>
          <a:noFill/>
          <a:ln/>
        </p:spPr>
        <p:txBody>
          <a:bodyPr wrap="square" lIns="0" tIns="0" rIns="0" bIns="0" rtlCol="0" anchor="ctr"/>
          <a:lstStyle/>
          <a:p>
            <a:pPr indent="0" marL="0">
              <a:buNone/>
            </a:pPr>
            <a:r>
              <a:rPr lang="en-US" sz="1300" dirty="0">
                <a:solidFill>
                  <a:srgbClr val="5A6B80"/>
                </a:solidFill>
                <a:latin typeface="Meiryo" pitchFamily="34" charset="0"/>
                <a:ea typeface="Meiryo" pitchFamily="34" charset="-122"/>
                <a:cs typeface="Meiryo" pitchFamily="34" charset="-120"/>
              </a:rPr>
              <a:t>ダッシュボード / プロジェクト / 週間カレンダー</a:t>
            </a:r>
            <a:endParaRPr lang="en-US" sz="1300" dirty="0"/>
          </a:p>
        </p:txBody>
      </p:sp>
      <p:sp>
        <p:nvSpPr>
          <p:cNvPr id="4" name="Shape 2"/>
          <p:cNvSpPr/>
          <p:nvPr/>
        </p:nvSpPr>
        <p:spPr>
          <a:xfrm>
            <a:off x="640080" y="1874520"/>
            <a:ext cx="7223760" cy="3657600"/>
          </a:xfrm>
          <a:prstGeom prst="roundRect">
            <a:avLst>
              <a:gd name="adj" fmla="val 3000"/>
            </a:avLst>
          </a:prstGeom>
          <a:solidFill>
            <a:srgbClr val="EEF3FA"/>
          </a:solidFill>
          <a:ln w="12700">
            <a:solidFill>
              <a:srgbClr val="DBE7F5"/>
            </a:solidFill>
            <a:prstDash val="solid"/>
          </a:ln>
          <a:effectLst>
            <a:outerShdw sx="100000" sy="100000" kx="0" ky="0" algn="bl" rotWithShape="0" blurRad="177800" dist="38100" dir="5400000">
              <a:srgbClr val="0C2340">
                <a:alpha val="10000"/>
              </a:srgbClr>
            </a:outerShdw>
          </a:effectLst>
        </p:spPr>
      </p:sp>
      <p:sp>
        <p:nvSpPr>
          <p:cNvPr id="5" name="Text 3"/>
          <p:cNvSpPr txBox="1"/>
          <p:nvPr/>
        </p:nvSpPr>
        <p:spPr>
          <a:xfrm>
            <a:off x="1097280" y="3200400"/>
            <a:ext cx="6309360" cy="1005840"/>
          </a:xfrm>
          <a:prstGeom prst="rect">
            <a:avLst/>
          </a:prstGeom>
          <a:noFill/>
          <a:ln/>
        </p:spPr>
        <p:txBody>
          <a:bodyPr wrap="square" lIns="0" tIns="0" rIns="0" bIns="0" rtlCol="0" anchor="ctr"/>
          <a:lstStyle/>
          <a:p>
            <a:pPr algn="ctr" indent="0" marL="0">
              <a:lnSpc>
                <a:spcPts val="2400"/>
              </a:lnSpc>
              <a:buNone/>
            </a:pPr>
            <a:r>
              <a:rPr lang="en-US" sz="1400" dirty="0">
                <a:solidFill>
                  <a:srgbClr val="8B99AB"/>
                </a:solidFill>
                <a:latin typeface="Meiryo" pitchFamily="34" charset="0"/>
                <a:ea typeface="Meiryo" pitchFamily="34" charset="-122"/>
                <a:cs typeface="Meiryo" pitchFamily="34" charset="-120"/>
              </a:rPr>
              <a:t>スクリーンショットをここに配置</a:t>
            </a:r>
            <a:endParaRPr lang="en-US" sz="1400" dirty="0"/>
          </a:p>
          <a:p>
            <a:pPr algn="ctr" indent="0" marL="0">
              <a:lnSpc>
                <a:spcPts val="2400"/>
              </a:lnSpc>
              <a:buNone/>
            </a:pPr>
            <a:r>
              <a:rPr lang="en-US" sz="1400" dirty="0">
                <a:solidFill>
                  <a:srgbClr val="8B99AB"/>
                </a:solidFill>
                <a:latin typeface="Meiryo" pitchFamily="34" charset="0"/>
                <a:ea typeface="Meiryo" pitchFamily="34" charset="-122"/>
                <a:cs typeface="Meiryo" pitchFamily="34" charset="-120"/>
              </a:rPr>
              <a:t>（推奨サイズ 1600×810px 前後）</a:t>
            </a:r>
            <a:endParaRPr lang="en-US" sz="1400" dirty="0"/>
          </a:p>
        </p:txBody>
      </p:sp>
      <p:sp>
        <p:nvSpPr>
          <p:cNvPr id="6" name="Shape 4"/>
          <p:cNvSpPr/>
          <p:nvPr/>
        </p:nvSpPr>
        <p:spPr>
          <a:xfrm>
            <a:off x="8092440" y="1965960"/>
            <a:ext cx="457200" cy="457200"/>
          </a:xfrm>
          <a:prstGeom prst="ellipse">
            <a:avLst/>
          </a:prstGeom>
          <a:solidFill>
            <a:srgbClr val="1C5CAB"/>
          </a:solidFill>
          <a:ln w="12700">
            <a:solidFill>
              <a:srgbClr val="1C5CAB"/>
            </a:solidFill>
            <a:prstDash val="solid"/>
          </a:ln>
        </p:spPr>
      </p:sp>
      <p:sp>
        <p:nvSpPr>
          <p:cNvPr id="7" name="Text 5"/>
          <p:cNvSpPr txBox="1"/>
          <p:nvPr/>
        </p:nvSpPr>
        <p:spPr>
          <a:xfrm>
            <a:off x="8092440" y="1965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8" name="Text 6"/>
          <p:cNvSpPr txBox="1"/>
          <p:nvPr/>
        </p:nvSpPr>
        <p:spPr>
          <a:xfrm>
            <a:off x="8686800" y="1947672"/>
            <a:ext cx="2834640" cy="347472"/>
          </a:xfrm>
          <a:prstGeom prst="rect">
            <a:avLst/>
          </a:prstGeom>
          <a:noFill/>
          <a:ln/>
        </p:spPr>
        <p:txBody>
          <a:bodyPr wrap="square" lIns="0" tIns="0" rIns="0" bIns="0" rtlCol="0" anchor="ctr"/>
          <a:lstStyle/>
          <a:p>
            <a:pPr indent="0" marL="0">
              <a:buNone/>
            </a:pPr>
            <a:r>
              <a:rPr lang="en-US" sz="1500" b="1" dirty="0">
                <a:solidFill>
                  <a:srgbClr val="0C2340"/>
                </a:solidFill>
                <a:latin typeface="Meiryo" pitchFamily="34" charset="0"/>
                <a:ea typeface="Meiryo" pitchFamily="34" charset="-122"/>
                <a:cs typeface="Meiryo" pitchFamily="34" charset="-120"/>
              </a:rPr>
              <a:t>1画面完結</a:t>
            </a:r>
            <a:endParaRPr lang="en-US" sz="1500" dirty="0"/>
          </a:p>
        </p:txBody>
      </p:sp>
      <p:sp>
        <p:nvSpPr>
          <p:cNvPr id="9" name="Text 7"/>
          <p:cNvSpPr txBox="1"/>
          <p:nvPr/>
        </p:nvSpPr>
        <p:spPr>
          <a:xfrm>
            <a:off x="8686800" y="2331720"/>
            <a:ext cx="2834640" cy="685800"/>
          </a:xfrm>
          <a:prstGeom prst="rect">
            <a:avLst/>
          </a:prstGeom>
          <a:noFill/>
          <a:ln/>
        </p:spPr>
        <p:txBody>
          <a:bodyPr wrap="square" lIns="0" tIns="0" rIns="0" bIns="0" rtlCol="0" anchor="ctr"/>
          <a:lstStyle/>
          <a:p>
            <a:pPr indent="0" marL="0">
              <a:lnSpc>
                <a:spcPts val="1800"/>
              </a:lnSpc>
              <a:buNone/>
            </a:pPr>
            <a:r>
              <a:rPr lang="en-US" sz="1150" dirty="0">
                <a:solidFill>
                  <a:srgbClr val="5A6B80"/>
                </a:solidFill>
                <a:latin typeface="Meiryo" pitchFamily="34" charset="0"/>
                <a:ea typeface="Meiryo" pitchFamily="34" charset="-122"/>
                <a:cs typeface="Meiryo" pitchFamily="34" charset="-120"/>
              </a:rPr>
              <a:t>画面を行き来せず、状況把握から更新まで完了できます。</a:t>
            </a:r>
            <a:endParaRPr lang="en-US" sz="1150" dirty="0"/>
          </a:p>
        </p:txBody>
      </p:sp>
      <p:sp>
        <p:nvSpPr>
          <p:cNvPr id="10" name="Shape 8"/>
          <p:cNvSpPr/>
          <p:nvPr/>
        </p:nvSpPr>
        <p:spPr>
          <a:xfrm>
            <a:off x="8092440" y="3246120"/>
            <a:ext cx="457200" cy="457200"/>
          </a:xfrm>
          <a:prstGeom prst="ellipse">
            <a:avLst/>
          </a:prstGeom>
          <a:solidFill>
            <a:srgbClr val="1C5CAB"/>
          </a:solidFill>
          <a:ln w="12700">
            <a:solidFill>
              <a:srgbClr val="1C5CAB"/>
            </a:solidFill>
            <a:prstDash val="solid"/>
          </a:ln>
        </p:spPr>
      </p:sp>
      <p:sp>
        <p:nvSpPr>
          <p:cNvPr id="11" name="Text 9"/>
          <p:cNvSpPr txBox="1"/>
          <p:nvPr/>
        </p:nvSpPr>
        <p:spPr>
          <a:xfrm>
            <a:off x="8092440" y="32461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2" name="Text 10"/>
          <p:cNvSpPr txBox="1"/>
          <p:nvPr/>
        </p:nvSpPr>
        <p:spPr>
          <a:xfrm>
            <a:off x="8686800" y="3227832"/>
            <a:ext cx="2834640" cy="347472"/>
          </a:xfrm>
          <a:prstGeom prst="rect">
            <a:avLst/>
          </a:prstGeom>
          <a:noFill/>
          <a:ln/>
        </p:spPr>
        <p:txBody>
          <a:bodyPr wrap="square" lIns="0" tIns="0" rIns="0" bIns="0" rtlCol="0" anchor="ctr"/>
          <a:lstStyle/>
          <a:p>
            <a:pPr indent="0" marL="0">
              <a:buNone/>
            </a:pPr>
            <a:r>
              <a:rPr lang="en-US" sz="1500" b="1" dirty="0">
                <a:solidFill>
                  <a:srgbClr val="0C2340"/>
                </a:solidFill>
                <a:latin typeface="Meiryo" pitchFamily="34" charset="0"/>
                <a:ea typeface="Meiryo" pitchFamily="34" charset="-122"/>
                <a:cs typeface="Meiryo" pitchFamily="34" charset="-120"/>
              </a:rPr>
              <a:t>色で気づく</a:t>
            </a:r>
            <a:endParaRPr lang="en-US" sz="1500" dirty="0"/>
          </a:p>
        </p:txBody>
      </p:sp>
      <p:sp>
        <p:nvSpPr>
          <p:cNvPr id="13" name="Text 11"/>
          <p:cNvSpPr txBox="1"/>
          <p:nvPr/>
        </p:nvSpPr>
        <p:spPr>
          <a:xfrm>
            <a:off x="8686800" y="3611880"/>
            <a:ext cx="2834640" cy="685800"/>
          </a:xfrm>
          <a:prstGeom prst="rect">
            <a:avLst/>
          </a:prstGeom>
          <a:noFill/>
          <a:ln/>
        </p:spPr>
        <p:txBody>
          <a:bodyPr wrap="square" lIns="0" tIns="0" rIns="0" bIns="0" rtlCol="0" anchor="ctr"/>
          <a:lstStyle/>
          <a:p>
            <a:pPr indent="0" marL="0">
              <a:lnSpc>
                <a:spcPts val="1800"/>
              </a:lnSpc>
              <a:buNone/>
            </a:pPr>
            <a:r>
              <a:rPr lang="en-US" sz="1150" dirty="0">
                <a:solidFill>
                  <a:srgbClr val="5A6B80"/>
                </a:solidFill>
                <a:latin typeface="Meiryo" pitchFamily="34" charset="0"/>
                <a:ea typeface="Meiryo" pitchFamily="34" charset="-122"/>
                <a:cs typeface="Meiryo" pitchFamily="34" charset="-120"/>
              </a:rPr>
              <a:t>遅延・期限間近をセルの色で表示。見落としを防ぎます。</a:t>
            </a:r>
            <a:endParaRPr lang="en-US" sz="1150" dirty="0"/>
          </a:p>
        </p:txBody>
      </p:sp>
      <p:sp>
        <p:nvSpPr>
          <p:cNvPr id="14" name="Shape 12"/>
          <p:cNvSpPr/>
          <p:nvPr/>
        </p:nvSpPr>
        <p:spPr>
          <a:xfrm>
            <a:off x="8092440" y="4526280"/>
            <a:ext cx="457200" cy="457200"/>
          </a:xfrm>
          <a:prstGeom prst="ellipse">
            <a:avLst/>
          </a:prstGeom>
          <a:solidFill>
            <a:srgbClr val="1C5CAB"/>
          </a:solidFill>
          <a:ln w="12700">
            <a:solidFill>
              <a:srgbClr val="1C5CAB"/>
            </a:solidFill>
            <a:prstDash val="solid"/>
          </a:ln>
        </p:spPr>
      </p:sp>
      <p:sp>
        <p:nvSpPr>
          <p:cNvPr id="15" name="Text 13"/>
          <p:cNvSpPr txBox="1"/>
          <p:nvPr/>
        </p:nvSpPr>
        <p:spPr>
          <a:xfrm>
            <a:off x="8092440"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6" name="Text 14"/>
          <p:cNvSpPr txBox="1"/>
          <p:nvPr/>
        </p:nvSpPr>
        <p:spPr>
          <a:xfrm>
            <a:off x="8686800" y="4507992"/>
            <a:ext cx="2834640" cy="347472"/>
          </a:xfrm>
          <a:prstGeom prst="rect">
            <a:avLst/>
          </a:prstGeom>
          <a:noFill/>
          <a:ln/>
        </p:spPr>
        <p:txBody>
          <a:bodyPr wrap="square" lIns="0" tIns="0" rIns="0" bIns="0" rtlCol="0" anchor="ctr"/>
          <a:lstStyle/>
          <a:p>
            <a:pPr indent="0" marL="0">
              <a:buNone/>
            </a:pPr>
            <a:r>
              <a:rPr lang="en-US" sz="1500" b="1" dirty="0">
                <a:solidFill>
                  <a:srgbClr val="0C2340"/>
                </a:solidFill>
                <a:latin typeface="Meiryo" pitchFamily="34" charset="0"/>
                <a:ea typeface="Meiryo" pitchFamily="34" charset="-122"/>
                <a:cs typeface="Meiryo" pitchFamily="34" charset="-120"/>
              </a:rPr>
              <a:t>そのまま報告資料に</a:t>
            </a:r>
            <a:endParaRPr lang="en-US" sz="1500" dirty="0"/>
          </a:p>
        </p:txBody>
      </p:sp>
      <p:sp>
        <p:nvSpPr>
          <p:cNvPr id="17" name="Text 15"/>
          <p:cNvSpPr txBox="1"/>
          <p:nvPr/>
        </p:nvSpPr>
        <p:spPr>
          <a:xfrm>
            <a:off x="8686800" y="4892040"/>
            <a:ext cx="2834640" cy="685800"/>
          </a:xfrm>
          <a:prstGeom prst="rect">
            <a:avLst/>
          </a:prstGeom>
          <a:noFill/>
          <a:ln/>
        </p:spPr>
        <p:txBody>
          <a:bodyPr wrap="square" lIns="0" tIns="0" rIns="0" bIns="0" rtlCol="0" anchor="ctr"/>
          <a:lstStyle/>
          <a:p>
            <a:pPr indent="0" marL="0">
              <a:lnSpc>
                <a:spcPts val="1800"/>
              </a:lnSpc>
              <a:buNone/>
            </a:pPr>
            <a:r>
              <a:rPr lang="en-US" sz="1150" dirty="0">
                <a:solidFill>
                  <a:srgbClr val="5A6B80"/>
                </a:solidFill>
                <a:latin typeface="Meiryo" pitchFamily="34" charset="0"/>
                <a:ea typeface="Meiryo" pitchFamily="34" charset="-122"/>
                <a:cs typeface="Meiryo" pitchFamily="34" charset="-120"/>
              </a:rPr>
              <a:t>週報は印刷・PDF出力に対応。転記作業が不要です。</a:t>
            </a:r>
            <a:endParaRPr lang="en-US" sz="1150" dirty="0"/>
          </a:p>
        </p:txBody>
      </p:sp>
      <p:sp>
        <p:nvSpPr>
          <p:cNvPr id="18" name="Text 16"/>
          <p:cNvSpPr txBox="1"/>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8B99AB"/>
                </a:solidFill>
                <a:latin typeface="Meiryo" pitchFamily="34" charset="0"/>
                <a:ea typeface="Meiryo" pitchFamily="34" charset="-122"/>
                <a:cs typeface="Meiryo" pitchFamily="34" charset="-120"/>
              </a:rPr>
              <a:t>6</a:t>
            </a:r>
            <a:endParaRPr lang="en-US" sz="1000" dirty="0"/>
          </a:p>
        </p:txBody>
      </p:sp>
      <p:sp>
        <p:nvSpPr>
          <p:cNvPr id="19" name="Text 17"/>
          <p:cNvSpPr txBox="1"/>
          <p:nvPr/>
        </p:nvSpPr>
        <p:spPr>
          <a:xfrm>
            <a:off x="640080" y="6291072"/>
            <a:ext cx="1828800" cy="274320"/>
          </a:xfrm>
          <a:prstGeom prst="rect">
            <a:avLst/>
          </a:prstGeom>
          <a:noFill/>
          <a:ln/>
        </p:spPr>
        <p:txBody>
          <a:bodyPr wrap="square" lIns="0" tIns="0" rIns="0" bIns="0" rtlCol="0" anchor="ctr"/>
          <a:lstStyle/>
          <a:p>
            <a:pPr indent="0" marL="0">
              <a:buNone/>
            </a:pPr>
            <a:r>
              <a:rPr lang="en-US" sz="1000" b="1" dirty="0">
                <a:solidFill>
                  <a:srgbClr val="8B99AB"/>
                </a:solidFill>
                <a:latin typeface="Meiryo" pitchFamily="34" charset="0"/>
                <a:ea typeface="Meiryo" pitchFamily="34" charset="-122"/>
                <a:cs typeface="Meiryo" pitchFamily="34" charset="-120"/>
              </a:rPr>
              <a:t>Hittatsu</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566928"/>
          </a:xfrm>
          <a:prstGeom prst="rect">
            <a:avLst/>
          </a:prstGeom>
          <a:noFill/>
          <a:ln/>
        </p:spPr>
        <p:txBody>
          <a:bodyPr wrap="square" lIns="0" tIns="0" rIns="0" bIns="0" rtlCol="0" anchor="ctr"/>
          <a:lstStyle/>
          <a:p>
            <a:pPr indent="0" marL="0">
              <a:buNone/>
            </a:pPr>
            <a:r>
              <a:rPr lang="en-US" sz="3000" b="1" dirty="0">
                <a:solidFill>
                  <a:srgbClr val="0C2340"/>
                </a:solidFill>
                <a:latin typeface="Meiryo" pitchFamily="34" charset="0"/>
                <a:ea typeface="Meiryo" pitchFamily="34" charset="-122"/>
                <a:cs typeface="Meiryo" pitchFamily="34" charset="-120"/>
              </a:rPr>
              <a:t>導入によって期待できる効果</a:t>
            </a:r>
            <a:endParaRPr lang="en-US" sz="3000" dirty="0"/>
          </a:p>
        </p:txBody>
      </p:sp>
      <p:sp>
        <p:nvSpPr>
          <p:cNvPr id="3" name="Text 1"/>
          <p:cNvSpPr txBox="1"/>
          <p:nvPr/>
        </p:nvSpPr>
        <p:spPr>
          <a:xfrm>
            <a:off x="640080" y="1078992"/>
            <a:ext cx="10911535" cy="329184"/>
          </a:xfrm>
          <a:prstGeom prst="rect">
            <a:avLst/>
          </a:prstGeom>
          <a:noFill/>
          <a:ln/>
        </p:spPr>
        <p:txBody>
          <a:bodyPr wrap="square" lIns="0" tIns="0" rIns="0" bIns="0" rtlCol="0" anchor="ctr"/>
          <a:lstStyle/>
          <a:p>
            <a:pPr indent="0" marL="0">
              <a:buNone/>
            </a:pPr>
            <a:r>
              <a:rPr lang="en-US" sz="1300" dirty="0">
                <a:solidFill>
                  <a:srgbClr val="5A6B80"/>
                </a:solidFill>
                <a:latin typeface="Meiryo" pitchFamily="34" charset="0"/>
                <a:ea typeface="Meiryo" pitchFamily="34" charset="-122"/>
                <a:cs typeface="Meiryo" pitchFamily="34" charset="-120"/>
              </a:rPr>
              <a:t>数値は自社での試験運用に基づく参考値です</a:t>
            </a:r>
            <a:endParaRPr lang="en-US" sz="1300" dirty="0"/>
          </a:p>
        </p:txBody>
      </p:sp>
      <p:sp>
        <p:nvSpPr>
          <p:cNvPr id="4" name="Shape 2"/>
          <p:cNvSpPr/>
          <p:nvPr/>
        </p:nvSpPr>
        <p:spPr>
          <a:xfrm>
            <a:off x="640080" y="1965960"/>
            <a:ext cx="3454298" cy="2423160"/>
          </a:xfrm>
          <a:prstGeom prst="roundRect">
            <a:avLst>
              <a:gd name="adj" fmla="val 4528"/>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5" name="Text 3"/>
          <p:cNvSpPr txBox="1"/>
          <p:nvPr/>
        </p:nvSpPr>
        <p:spPr>
          <a:xfrm>
            <a:off x="822960" y="2286000"/>
            <a:ext cx="3088538" cy="1051560"/>
          </a:xfrm>
          <a:prstGeom prst="rect">
            <a:avLst/>
          </a:prstGeom>
          <a:noFill/>
          <a:ln/>
        </p:spPr>
        <p:txBody>
          <a:bodyPr wrap="square" lIns="0" tIns="0" rIns="0" bIns="0" rtlCol="0" anchor="ctr"/>
          <a:lstStyle/>
          <a:p>
            <a:pPr algn="ctr" indent="0" marL="0">
              <a:buNone/>
            </a:pPr>
            <a:r>
              <a:rPr lang="en-US" sz="4600" b="1" spc="-100" kern="0" dirty="0">
                <a:solidFill>
                  <a:srgbClr val="1C5CAB"/>
                </a:solidFill>
                <a:latin typeface="Meiryo" pitchFamily="34" charset="0"/>
                <a:ea typeface="Meiryo" pitchFamily="34" charset="-122"/>
                <a:cs typeface="Meiryo" pitchFamily="34" charset="-120"/>
              </a:rPr>
              <a:t>40%</a:t>
            </a:r>
            <a:endParaRPr lang="en-US" sz="4600" dirty="0"/>
          </a:p>
        </p:txBody>
      </p:sp>
      <p:sp>
        <p:nvSpPr>
          <p:cNvPr id="6" name="Text 4"/>
          <p:cNvSpPr txBox="1"/>
          <p:nvPr/>
        </p:nvSpPr>
        <p:spPr>
          <a:xfrm>
            <a:off x="868680" y="3383280"/>
            <a:ext cx="2997098" cy="777240"/>
          </a:xfrm>
          <a:prstGeom prst="rect">
            <a:avLst/>
          </a:prstGeom>
          <a:noFill/>
          <a:ln/>
        </p:spPr>
        <p:txBody>
          <a:bodyPr wrap="square" lIns="0" tIns="0" rIns="0" bIns="0" rtlCol="0" anchor="ctr"/>
          <a:lstStyle/>
          <a:p>
            <a:pPr algn="ctr" indent="0" marL="0">
              <a:lnSpc>
                <a:spcPts val="2000"/>
              </a:lnSpc>
              <a:buNone/>
            </a:pPr>
            <a:r>
              <a:rPr lang="en-US" sz="1250" dirty="0">
                <a:solidFill>
                  <a:srgbClr val="5A6B80"/>
                </a:solidFill>
                <a:latin typeface="Meiryo" pitchFamily="34" charset="0"/>
                <a:ea typeface="Meiryo" pitchFamily="34" charset="-122"/>
                <a:cs typeface="Meiryo" pitchFamily="34" charset="-120"/>
              </a:rPr>
              <a:t>進捗確認にかけていた</a:t>
            </a:r>
            <a:endParaRPr lang="en-US" sz="1250" dirty="0"/>
          </a:p>
          <a:p>
            <a:pPr algn="ctr" indent="0" marL="0">
              <a:lnSpc>
                <a:spcPts val="2000"/>
              </a:lnSpc>
              <a:buNone/>
            </a:pPr>
            <a:r>
              <a:rPr lang="en-US" sz="1250" dirty="0">
                <a:solidFill>
                  <a:srgbClr val="5A6B80"/>
                </a:solidFill>
                <a:latin typeface="Meiryo" pitchFamily="34" charset="0"/>
                <a:ea typeface="Meiryo" pitchFamily="34" charset="-122"/>
                <a:cs typeface="Meiryo" pitchFamily="34" charset="-120"/>
              </a:rPr>
              <a:t>会議時間を削減</a:t>
            </a:r>
            <a:endParaRPr lang="en-US" sz="1250" dirty="0"/>
          </a:p>
        </p:txBody>
      </p:sp>
      <p:sp>
        <p:nvSpPr>
          <p:cNvPr id="7" name="Shape 5"/>
          <p:cNvSpPr/>
          <p:nvPr/>
        </p:nvSpPr>
        <p:spPr>
          <a:xfrm>
            <a:off x="4368698" y="1965960"/>
            <a:ext cx="3454298" cy="2423160"/>
          </a:xfrm>
          <a:prstGeom prst="roundRect">
            <a:avLst>
              <a:gd name="adj" fmla="val 4528"/>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8" name="Text 6"/>
          <p:cNvSpPr txBox="1"/>
          <p:nvPr/>
        </p:nvSpPr>
        <p:spPr>
          <a:xfrm>
            <a:off x="4551578" y="2286000"/>
            <a:ext cx="3088538" cy="1051560"/>
          </a:xfrm>
          <a:prstGeom prst="rect">
            <a:avLst/>
          </a:prstGeom>
          <a:noFill/>
          <a:ln/>
        </p:spPr>
        <p:txBody>
          <a:bodyPr wrap="square" lIns="0" tIns="0" rIns="0" bIns="0" rtlCol="0" anchor="ctr"/>
          <a:lstStyle/>
          <a:p>
            <a:pPr algn="ctr" indent="0" marL="0">
              <a:buNone/>
            </a:pPr>
            <a:r>
              <a:rPr lang="en-US" sz="4600" b="1" spc="-100" kern="0" dirty="0">
                <a:solidFill>
                  <a:srgbClr val="067806"/>
                </a:solidFill>
                <a:latin typeface="Meiryo" pitchFamily="34" charset="0"/>
                <a:ea typeface="Meiryo" pitchFamily="34" charset="-122"/>
                <a:cs typeface="Meiryo" pitchFamily="34" charset="-120"/>
              </a:rPr>
              <a:t>+25pt</a:t>
            </a:r>
            <a:endParaRPr lang="en-US" sz="4600" dirty="0"/>
          </a:p>
        </p:txBody>
      </p:sp>
      <p:sp>
        <p:nvSpPr>
          <p:cNvPr id="9" name="Text 7"/>
          <p:cNvSpPr txBox="1"/>
          <p:nvPr/>
        </p:nvSpPr>
        <p:spPr>
          <a:xfrm>
            <a:off x="4597298" y="3383280"/>
            <a:ext cx="2997098" cy="777240"/>
          </a:xfrm>
          <a:prstGeom prst="rect">
            <a:avLst/>
          </a:prstGeom>
          <a:noFill/>
          <a:ln/>
        </p:spPr>
        <p:txBody>
          <a:bodyPr wrap="square" lIns="0" tIns="0" rIns="0" bIns="0" rtlCol="0" anchor="ctr"/>
          <a:lstStyle/>
          <a:p>
            <a:pPr algn="ctr" indent="0" marL="0">
              <a:lnSpc>
                <a:spcPts val="2000"/>
              </a:lnSpc>
              <a:buNone/>
            </a:pPr>
            <a:r>
              <a:rPr lang="en-US" sz="1250" dirty="0">
                <a:solidFill>
                  <a:srgbClr val="5A6B80"/>
                </a:solidFill>
                <a:latin typeface="Meiryo" pitchFamily="34" charset="0"/>
                <a:ea typeface="Meiryo" pitchFamily="34" charset="-122"/>
                <a:cs typeface="Meiryo" pitchFamily="34" charset="-120"/>
              </a:rPr>
              <a:t>期日どおりに完了した</a:t>
            </a:r>
            <a:endParaRPr lang="en-US" sz="1250" dirty="0"/>
          </a:p>
          <a:p>
            <a:pPr algn="ctr" indent="0" marL="0">
              <a:lnSpc>
                <a:spcPts val="2000"/>
              </a:lnSpc>
              <a:buNone/>
            </a:pPr>
            <a:r>
              <a:rPr lang="en-US" sz="1250" dirty="0">
                <a:solidFill>
                  <a:srgbClr val="5A6B80"/>
                </a:solidFill>
                <a:latin typeface="Meiryo" pitchFamily="34" charset="0"/>
                <a:ea typeface="Meiryo" pitchFamily="34" charset="-122"/>
                <a:cs typeface="Meiryo" pitchFamily="34" charset="-120"/>
              </a:rPr>
              <a:t>タスクの割合が向上</a:t>
            </a:r>
            <a:endParaRPr lang="en-US" sz="1250" dirty="0"/>
          </a:p>
        </p:txBody>
      </p:sp>
      <p:sp>
        <p:nvSpPr>
          <p:cNvPr id="10" name="Shape 8"/>
          <p:cNvSpPr/>
          <p:nvPr/>
        </p:nvSpPr>
        <p:spPr>
          <a:xfrm>
            <a:off x="8097317" y="1965960"/>
            <a:ext cx="3454298" cy="2423160"/>
          </a:xfrm>
          <a:prstGeom prst="roundRect">
            <a:avLst>
              <a:gd name="adj" fmla="val 4528"/>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1" name="Text 9"/>
          <p:cNvSpPr txBox="1"/>
          <p:nvPr/>
        </p:nvSpPr>
        <p:spPr>
          <a:xfrm>
            <a:off x="8280197" y="2286000"/>
            <a:ext cx="3088538" cy="1051560"/>
          </a:xfrm>
          <a:prstGeom prst="rect">
            <a:avLst/>
          </a:prstGeom>
          <a:noFill/>
          <a:ln/>
        </p:spPr>
        <p:txBody>
          <a:bodyPr wrap="square" lIns="0" tIns="0" rIns="0" bIns="0" rtlCol="0" anchor="ctr"/>
          <a:lstStyle/>
          <a:p>
            <a:pPr algn="ctr" indent="0" marL="0">
              <a:buNone/>
            </a:pPr>
            <a:r>
              <a:rPr lang="en-US" sz="4600" b="1" spc="-100" kern="0" dirty="0">
                <a:solidFill>
                  <a:srgbClr val="1C5CAB"/>
                </a:solidFill>
                <a:latin typeface="Meiryo" pitchFamily="34" charset="0"/>
                <a:ea typeface="Meiryo" pitchFamily="34" charset="-122"/>
                <a:cs typeface="Meiryo" pitchFamily="34" charset="-120"/>
              </a:rPr>
              <a:t>0円</a:t>
            </a:r>
            <a:endParaRPr lang="en-US" sz="4600" dirty="0"/>
          </a:p>
        </p:txBody>
      </p:sp>
      <p:sp>
        <p:nvSpPr>
          <p:cNvPr id="12" name="Text 10"/>
          <p:cNvSpPr txBox="1"/>
          <p:nvPr/>
        </p:nvSpPr>
        <p:spPr>
          <a:xfrm>
            <a:off x="8325917" y="3383280"/>
            <a:ext cx="2997098" cy="777240"/>
          </a:xfrm>
          <a:prstGeom prst="rect">
            <a:avLst/>
          </a:prstGeom>
          <a:noFill/>
          <a:ln/>
        </p:spPr>
        <p:txBody>
          <a:bodyPr wrap="square" lIns="0" tIns="0" rIns="0" bIns="0" rtlCol="0" anchor="ctr"/>
          <a:lstStyle/>
          <a:p>
            <a:pPr algn="ctr" indent="0" marL="0">
              <a:lnSpc>
                <a:spcPts val="2000"/>
              </a:lnSpc>
              <a:buNone/>
            </a:pPr>
            <a:r>
              <a:rPr lang="en-US" sz="1250" dirty="0">
                <a:solidFill>
                  <a:srgbClr val="5A6B80"/>
                </a:solidFill>
                <a:latin typeface="Meiryo" pitchFamily="34" charset="0"/>
                <a:ea typeface="Meiryo" pitchFamily="34" charset="-122"/>
                <a:cs typeface="Meiryo" pitchFamily="34" charset="-120"/>
              </a:rPr>
              <a:t>初期構築費用</a:t>
            </a:r>
            <a:endParaRPr lang="en-US" sz="1250" dirty="0"/>
          </a:p>
          <a:p>
            <a:pPr algn="ctr" indent="0" marL="0">
              <a:lnSpc>
                <a:spcPts val="2000"/>
              </a:lnSpc>
              <a:buNone/>
            </a:pPr>
            <a:r>
              <a:rPr lang="en-US" sz="1250" dirty="0">
                <a:solidFill>
                  <a:srgbClr val="5A6B80"/>
                </a:solidFill>
                <a:latin typeface="Meiryo" pitchFamily="34" charset="0"/>
                <a:ea typeface="Meiryo" pitchFamily="34" charset="-122"/>
                <a:cs typeface="Meiryo" pitchFamily="34" charset="-120"/>
              </a:rPr>
              <a:t>（既存のGoogleアカウントで開始）</a:t>
            </a:r>
            <a:endParaRPr lang="en-US" sz="1250" dirty="0"/>
          </a:p>
        </p:txBody>
      </p:sp>
      <p:sp>
        <p:nvSpPr>
          <p:cNvPr id="13" name="Shape 11"/>
          <p:cNvSpPr/>
          <p:nvPr/>
        </p:nvSpPr>
        <p:spPr>
          <a:xfrm>
            <a:off x="640080" y="4709160"/>
            <a:ext cx="10911535" cy="777240"/>
          </a:xfrm>
          <a:prstGeom prst="roundRect">
            <a:avLst>
              <a:gd name="adj" fmla="val 14118"/>
            </a:avLst>
          </a:prstGeom>
          <a:solidFill>
            <a:srgbClr val="EEF3FA"/>
          </a:solidFill>
          <a:ln w="12700">
            <a:solidFill>
              <a:srgbClr val="DBE7F5"/>
            </a:solidFill>
            <a:prstDash val="solid"/>
          </a:ln>
        </p:spPr>
      </p:sp>
      <p:sp>
        <p:nvSpPr>
          <p:cNvPr id="14" name="Text 12"/>
          <p:cNvSpPr txBox="1"/>
          <p:nvPr/>
        </p:nvSpPr>
        <p:spPr>
          <a:xfrm>
            <a:off x="960120" y="4709160"/>
            <a:ext cx="10271455" cy="777240"/>
          </a:xfrm>
          <a:prstGeom prst="rect">
            <a:avLst/>
          </a:prstGeom>
          <a:noFill/>
          <a:ln/>
        </p:spPr>
        <p:txBody>
          <a:bodyPr wrap="square" lIns="0" tIns="0" rIns="0" bIns="0" rtlCol="0" anchor="ctr"/>
          <a:lstStyle/>
          <a:p>
            <a:pPr indent="0" marL="0">
              <a:buNone/>
            </a:pPr>
            <a:r>
              <a:rPr lang="en-US" sz="1300" dirty="0">
                <a:solidFill>
                  <a:srgbClr val="10305A"/>
                </a:solidFill>
                <a:latin typeface="Meiryo" pitchFamily="34" charset="0"/>
                <a:ea typeface="Meiryo" pitchFamily="34" charset="-122"/>
                <a:cs typeface="Meiryo" pitchFamily="34" charset="-120"/>
              </a:rPr>
              <a:t>導入前後で「何を」「どの指標で」測るかを事前に決めておくと、効果が説明しやすくなります。</a:t>
            </a:r>
            <a:endParaRPr lang="en-US" sz="1300" dirty="0"/>
          </a:p>
        </p:txBody>
      </p:sp>
      <p:sp>
        <p:nvSpPr>
          <p:cNvPr id="15" name="Text 13"/>
          <p:cNvSpPr txBox="1"/>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8B99AB"/>
                </a:solidFill>
                <a:latin typeface="Meiryo" pitchFamily="34" charset="0"/>
                <a:ea typeface="Meiryo" pitchFamily="34" charset="-122"/>
                <a:cs typeface="Meiryo" pitchFamily="34" charset="-120"/>
              </a:rPr>
              <a:t>7</a:t>
            </a:r>
            <a:endParaRPr lang="en-US" sz="1000" dirty="0"/>
          </a:p>
        </p:txBody>
      </p:sp>
      <p:sp>
        <p:nvSpPr>
          <p:cNvPr id="16" name="Text 14"/>
          <p:cNvSpPr txBox="1"/>
          <p:nvPr/>
        </p:nvSpPr>
        <p:spPr>
          <a:xfrm>
            <a:off x="640080" y="6291072"/>
            <a:ext cx="1828800" cy="274320"/>
          </a:xfrm>
          <a:prstGeom prst="rect">
            <a:avLst/>
          </a:prstGeom>
          <a:noFill/>
          <a:ln/>
        </p:spPr>
        <p:txBody>
          <a:bodyPr wrap="square" lIns="0" tIns="0" rIns="0" bIns="0" rtlCol="0" anchor="ctr"/>
          <a:lstStyle/>
          <a:p>
            <a:pPr indent="0" marL="0">
              <a:buNone/>
            </a:pPr>
            <a:r>
              <a:rPr lang="en-US" sz="1000" b="1" dirty="0">
                <a:solidFill>
                  <a:srgbClr val="8B99AB"/>
                </a:solidFill>
                <a:latin typeface="Meiryo" pitchFamily="34" charset="0"/>
                <a:ea typeface="Meiryo" pitchFamily="34" charset="-122"/>
                <a:cs typeface="Meiryo" pitchFamily="34" charset="-120"/>
              </a:rPr>
              <a:t>Hittatsu</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566928"/>
          </a:xfrm>
          <a:prstGeom prst="rect">
            <a:avLst/>
          </a:prstGeom>
          <a:noFill/>
          <a:ln/>
        </p:spPr>
        <p:txBody>
          <a:bodyPr wrap="square" lIns="0" tIns="0" rIns="0" bIns="0" rtlCol="0" anchor="ctr"/>
          <a:lstStyle/>
          <a:p>
            <a:pPr indent="0" marL="0">
              <a:buNone/>
            </a:pPr>
            <a:r>
              <a:rPr lang="en-US" sz="3000" b="1" dirty="0">
                <a:solidFill>
                  <a:srgbClr val="0C2340"/>
                </a:solidFill>
                <a:latin typeface="Meiryo" pitchFamily="34" charset="0"/>
                <a:ea typeface="Meiryo" pitchFamily="34" charset="-122"/>
                <a:cs typeface="Meiryo" pitchFamily="34" charset="-120"/>
              </a:rPr>
              <a:t>メンバー別 進捗率</a:t>
            </a:r>
            <a:endParaRPr lang="en-US" sz="3000" dirty="0"/>
          </a:p>
        </p:txBody>
      </p:sp>
      <p:sp>
        <p:nvSpPr>
          <p:cNvPr id="3" name="Text 1"/>
          <p:cNvSpPr txBox="1"/>
          <p:nvPr/>
        </p:nvSpPr>
        <p:spPr>
          <a:xfrm>
            <a:off x="640080" y="1078992"/>
            <a:ext cx="10911535" cy="329184"/>
          </a:xfrm>
          <a:prstGeom prst="rect">
            <a:avLst/>
          </a:prstGeom>
          <a:noFill/>
          <a:ln/>
        </p:spPr>
        <p:txBody>
          <a:bodyPr wrap="square" lIns="0" tIns="0" rIns="0" bIns="0" rtlCol="0" anchor="ctr"/>
          <a:lstStyle/>
          <a:p>
            <a:pPr indent="0" marL="0">
              <a:buNone/>
            </a:pPr>
            <a:r>
              <a:rPr lang="en-US" sz="1300" dirty="0">
                <a:solidFill>
                  <a:srgbClr val="5A6B80"/>
                </a:solidFill>
                <a:latin typeface="Meiryo" pitchFamily="34" charset="0"/>
                <a:ea typeface="Meiryo" pitchFamily="34" charset="-122"/>
                <a:cs typeface="Meiryo" pitchFamily="34" charset="-120"/>
              </a:rPr>
              <a:t>グラフスライドの型（データを差し替えてご利用ください）</a:t>
            </a:r>
            <a:endParaRPr lang="en-US" sz="1300" dirty="0"/>
          </a:p>
        </p:txBody>
      </p:sp>
      <p:graphicFrame>
        <p:nvGraphicFramePr>
          <p:cNvPr id="4" name="Chart 0" descr=""/>
          <p:cNvGraphicFramePr/>
          <p:nvPr/>
        </p:nvGraphicFramePr>
        <p:xfrm>
          <a:off x="640080" y="1874520"/>
          <a:ext cx="722376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1874520"/>
            <a:ext cx="3456432" cy="3566160"/>
          </a:xfrm>
          <a:prstGeom prst="roundRect">
            <a:avLst>
              <a:gd name="adj" fmla="val 3175"/>
            </a:avLst>
          </a:prstGeom>
          <a:solidFill>
            <a:srgbClr val="EEF3FA"/>
          </a:solidFill>
          <a:ln w="12700">
            <a:solidFill>
              <a:srgbClr val="DBE7F5"/>
            </a:solidFill>
            <a:prstDash val="solid"/>
          </a:ln>
        </p:spPr>
      </p:sp>
      <p:sp>
        <p:nvSpPr>
          <p:cNvPr id="6" name="Text 3"/>
          <p:cNvSpPr txBox="1"/>
          <p:nvPr/>
        </p:nvSpPr>
        <p:spPr>
          <a:xfrm>
            <a:off x="8321040" y="2103120"/>
            <a:ext cx="3017520" cy="365760"/>
          </a:xfrm>
          <a:prstGeom prst="rect">
            <a:avLst/>
          </a:prstGeom>
          <a:noFill/>
          <a:ln/>
        </p:spPr>
        <p:txBody>
          <a:bodyPr wrap="square" lIns="0" tIns="0" rIns="0" bIns="0" rtlCol="0" anchor="ctr"/>
          <a:lstStyle/>
          <a:p>
            <a:pPr indent="0" marL="0">
              <a:buNone/>
            </a:pPr>
            <a:r>
              <a:rPr lang="en-US" sz="1500" b="1" dirty="0">
                <a:solidFill>
                  <a:srgbClr val="0C2340"/>
                </a:solidFill>
                <a:latin typeface="Meiryo" pitchFamily="34" charset="0"/>
                <a:ea typeface="Meiryo" pitchFamily="34" charset="-122"/>
                <a:cs typeface="Meiryo" pitchFamily="34" charset="-120"/>
              </a:rPr>
              <a:t>読み取りポイント</a:t>
            </a:r>
            <a:endParaRPr lang="en-US" sz="1500" dirty="0"/>
          </a:p>
        </p:txBody>
      </p:sp>
      <p:sp>
        <p:nvSpPr>
          <p:cNvPr id="7" name="Text 4"/>
          <p:cNvSpPr txBox="1"/>
          <p:nvPr/>
        </p:nvSpPr>
        <p:spPr>
          <a:xfrm>
            <a:off x="8366760" y="2606040"/>
            <a:ext cx="2971800" cy="256032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200" dirty="0">
                <a:solidFill>
                  <a:srgbClr val="10305A"/>
                </a:solidFill>
                <a:latin typeface="Meiryo" pitchFamily="34" charset="0"/>
                <a:ea typeface="Meiryo" pitchFamily="34" charset="-122"/>
                <a:cs typeface="Meiryo" pitchFamily="34" charset="-120"/>
              </a:rPr>
              <a:t>全体平均は 75.6%。目標ラインの 80% を下回っています。</a:t>
            </a:r>
            <a:endParaRPr lang="en-US" sz="1200" dirty="0"/>
          </a:p>
          <a:p>
            <a:pPr marL="342900" indent="-342900">
              <a:lnSpc>
                <a:spcPts val="1900"/>
              </a:lnSpc>
              <a:spcAft>
                <a:spcPts val="1000"/>
              </a:spcAft>
              <a:buSzPct val="100000"/>
              <a:buChar char="•"/>
            </a:pPr>
            <a:r>
              <a:rPr lang="en-US" sz="1200" dirty="0">
                <a:solidFill>
                  <a:srgbClr val="10305A"/>
                </a:solidFill>
                <a:latin typeface="Meiryo" pitchFamily="34" charset="0"/>
                <a:ea typeface="Meiryo" pitchFamily="34" charset="-122"/>
                <a:cs typeface="Meiryo" pitchFamily="34" charset="-120"/>
              </a:rPr>
              <a:t>E さんに遅延が集中。タスクの再配分を検討します。</a:t>
            </a:r>
            <a:endParaRPr lang="en-US" sz="1200" dirty="0"/>
          </a:p>
          <a:p>
            <a:pPr marL="342900" indent="-342900">
              <a:lnSpc>
                <a:spcPts val="1900"/>
              </a:lnSpc>
              <a:spcAft>
                <a:spcPts val="1000"/>
              </a:spcAft>
              <a:buSzPct val="100000"/>
              <a:buChar char="•"/>
            </a:pPr>
            <a:r>
              <a:rPr lang="en-US" sz="1200" dirty="0">
                <a:solidFill>
                  <a:srgbClr val="10305A"/>
                </a:solidFill>
                <a:latin typeface="Meiryo" pitchFamily="34" charset="0"/>
                <a:ea typeface="Meiryo" pitchFamily="34" charset="-122"/>
                <a:cs typeface="Meiryo" pitchFamily="34" charset="-120"/>
              </a:rPr>
              <a:t>次週は期限超過タスクをゼロにすることを優先します。</a:t>
            </a:r>
            <a:endParaRPr lang="en-US" sz="1200" dirty="0"/>
          </a:p>
        </p:txBody>
      </p:sp>
      <p:sp>
        <p:nvSpPr>
          <p:cNvPr id="8" name="Text 5"/>
          <p:cNvSpPr txBox="1"/>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8B99AB"/>
                </a:solidFill>
                <a:latin typeface="Meiryo" pitchFamily="34" charset="0"/>
                <a:ea typeface="Meiryo" pitchFamily="34" charset="-122"/>
                <a:cs typeface="Meiryo" pitchFamily="34" charset="-120"/>
              </a:rPr>
              <a:t>8</a:t>
            </a:r>
            <a:endParaRPr lang="en-US" sz="1000" dirty="0"/>
          </a:p>
        </p:txBody>
      </p:sp>
      <p:sp>
        <p:nvSpPr>
          <p:cNvPr id="9" name="Text 6"/>
          <p:cNvSpPr txBox="1"/>
          <p:nvPr/>
        </p:nvSpPr>
        <p:spPr>
          <a:xfrm>
            <a:off x="640080" y="6291072"/>
            <a:ext cx="1828800" cy="274320"/>
          </a:xfrm>
          <a:prstGeom prst="rect">
            <a:avLst/>
          </a:prstGeom>
          <a:noFill/>
          <a:ln/>
        </p:spPr>
        <p:txBody>
          <a:bodyPr wrap="square" lIns="0" tIns="0" rIns="0" bIns="0" rtlCol="0" anchor="ctr"/>
          <a:lstStyle/>
          <a:p>
            <a:pPr indent="0" marL="0">
              <a:buNone/>
            </a:pPr>
            <a:r>
              <a:rPr lang="en-US" sz="1000" b="1" dirty="0">
                <a:solidFill>
                  <a:srgbClr val="8B99AB"/>
                </a:solidFill>
                <a:latin typeface="Meiryo" pitchFamily="34" charset="0"/>
                <a:ea typeface="Meiryo" pitchFamily="34" charset="-122"/>
                <a:cs typeface="Meiryo" pitchFamily="34" charset="-120"/>
              </a:rPr>
              <a:t>Hittatsu</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566928"/>
          </a:xfrm>
          <a:prstGeom prst="rect">
            <a:avLst/>
          </a:prstGeom>
          <a:noFill/>
          <a:ln/>
        </p:spPr>
        <p:txBody>
          <a:bodyPr wrap="square" lIns="0" tIns="0" rIns="0" bIns="0" rtlCol="0" anchor="ctr"/>
          <a:lstStyle/>
          <a:p>
            <a:pPr indent="0" marL="0">
              <a:buNone/>
            </a:pPr>
            <a:r>
              <a:rPr lang="en-US" sz="3000" b="1" dirty="0">
                <a:solidFill>
                  <a:srgbClr val="0C2340"/>
                </a:solidFill>
                <a:latin typeface="Meiryo" pitchFamily="34" charset="0"/>
                <a:ea typeface="Meiryo" pitchFamily="34" charset="-122"/>
                <a:cs typeface="Meiryo" pitchFamily="34" charset="-120"/>
              </a:rPr>
              <a:t>導入の流れ</a:t>
            </a:r>
            <a:endParaRPr lang="en-US" sz="3000" dirty="0"/>
          </a:p>
        </p:txBody>
      </p:sp>
      <p:sp>
        <p:nvSpPr>
          <p:cNvPr id="3" name="Text 1"/>
          <p:cNvSpPr txBox="1"/>
          <p:nvPr/>
        </p:nvSpPr>
        <p:spPr>
          <a:xfrm>
            <a:off x="640080" y="1078992"/>
            <a:ext cx="10911535" cy="329184"/>
          </a:xfrm>
          <a:prstGeom prst="rect">
            <a:avLst/>
          </a:prstGeom>
          <a:noFill/>
          <a:ln/>
        </p:spPr>
        <p:txBody>
          <a:bodyPr wrap="square" lIns="0" tIns="0" rIns="0" bIns="0" rtlCol="0" anchor="ctr"/>
          <a:lstStyle/>
          <a:p>
            <a:pPr indent="0" marL="0">
              <a:buNone/>
            </a:pPr>
            <a:r>
              <a:rPr lang="en-US" sz="1300" dirty="0">
                <a:solidFill>
                  <a:srgbClr val="5A6B80"/>
                </a:solidFill>
                <a:latin typeface="Meiryo" pitchFamily="34" charset="0"/>
                <a:ea typeface="Meiryo" pitchFamily="34" charset="-122"/>
                <a:cs typeface="Meiryo" pitchFamily="34" charset="-120"/>
              </a:rPr>
              <a:t>お申し込みから運用開始まで、最短●営業日</a:t>
            </a:r>
            <a:endParaRPr lang="en-US" sz="1300" dirty="0"/>
          </a:p>
        </p:txBody>
      </p:sp>
      <p:sp>
        <p:nvSpPr>
          <p:cNvPr id="4" name="Shape 2"/>
          <p:cNvSpPr/>
          <p:nvPr/>
        </p:nvSpPr>
        <p:spPr>
          <a:xfrm>
            <a:off x="640080" y="2194560"/>
            <a:ext cx="2522144" cy="2423160"/>
          </a:xfrm>
          <a:prstGeom prst="roundRect">
            <a:avLst>
              <a:gd name="adj" fmla="val 4528"/>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5" name="Shape 3"/>
          <p:cNvSpPr/>
          <p:nvPr/>
        </p:nvSpPr>
        <p:spPr>
          <a:xfrm>
            <a:off x="1581112" y="1874520"/>
            <a:ext cx="640080" cy="640080"/>
          </a:xfrm>
          <a:prstGeom prst="ellipse">
            <a:avLst/>
          </a:prstGeom>
          <a:solidFill>
            <a:srgbClr val="1C5CAB"/>
          </a:solidFill>
          <a:ln w="38100">
            <a:solidFill>
              <a:srgbClr val="FFFFFF"/>
            </a:solidFill>
            <a:prstDash val="solid"/>
          </a:ln>
        </p:spPr>
      </p:sp>
      <p:sp>
        <p:nvSpPr>
          <p:cNvPr id="6" name="Text 4"/>
          <p:cNvSpPr txBox="1"/>
          <p:nvPr/>
        </p:nvSpPr>
        <p:spPr>
          <a:xfrm>
            <a:off x="1581112"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7" name="Text 5"/>
          <p:cNvSpPr txBox="1"/>
          <p:nvPr/>
        </p:nvSpPr>
        <p:spPr>
          <a:xfrm>
            <a:off x="868680" y="2697480"/>
            <a:ext cx="2064944" cy="274320"/>
          </a:xfrm>
          <a:prstGeom prst="rect">
            <a:avLst/>
          </a:prstGeom>
          <a:noFill/>
          <a:ln/>
        </p:spPr>
        <p:txBody>
          <a:bodyPr wrap="square" lIns="0" tIns="0" rIns="0" bIns="0" rtlCol="0" anchor="ctr"/>
          <a:lstStyle/>
          <a:p>
            <a:pPr algn="ctr" indent="0" marL="0">
              <a:buNone/>
            </a:pPr>
            <a:r>
              <a:rPr lang="en-US" sz="1050" b="1" dirty="0">
                <a:solidFill>
                  <a:srgbClr val="2A78D6"/>
                </a:solidFill>
                <a:latin typeface="Meiryo" pitchFamily="34" charset="0"/>
                <a:ea typeface="Meiryo" pitchFamily="34" charset="-122"/>
                <a:cs typeface="Meiryo" pitchFamily="34" charset="-120"/>
              </a:rPr>
              <a:t>STEP 1</a:t>
            </a:r>
            <a:endParaRPr lang="en-US" sz="1050" dirty="0"/>
          </a:p>
        </p:txBody>
      </p:sp>
      <p:sp>
        <p:nvSpPr>
          <p:cNvPr id="8" name="Text 6"/>
          <p:cNvSpPr txBox="1"/>
          <p:nvPr/>
        </p:nvSpPr>
        <p:spPr>
          <a:xfrm>
            <a:off x="822960" y="3017520"/>
            <a:ext cx="2156384" cy="685800"/>
          </a:xfrm>
          <a:prstGeom prst="rect">
            <a:avLst/>
          </a:prstGeom>
          <a:noFill/>
          <a:ln/>
        </p:spPr>
        <p:txBody>
          <a:bodyPr wrap="square" lIns="0" tIns="0" rIns="0" bIns="0" rtlCol="0" anchor="ctr"/>
          <a:lstStyle/>
          <a:p>
            <a:pPr algn="ctr" indent="0" marL="0">
              <a:buNone/>
            </a:pPr>
            <a:r>
              <a:rPr lang="en-US" sz="1500" b="1" dirty="0">
                <a:solidFill>
                  <a:srgbClr val="0C2340"/>
                </a:solidFill>
                <a:latin typeface="Meiryo" pitchFamily="34" charset="0"/>
                <a:ea typeface="Meiryo" pitchFamily="34" charset="-122"/>
                <a:cs typeface="Meiryo" pitchFamily="34" charset="-120"/>
              </a:rPr>
              <a:t>ヒアリング</a:t>
            </a:r>
            <a:endParaRPr lang="en-US" sz="1500" dirty="0"/>
          </a:p>
        </p:txBody>
      </p:sp>
      <p:sp>
        <p:nvSpPr>
          <p:cNvPr id="9" name="Text 7"/>
          <p:cNvSpPr txBox="1"/>
          <p:nvPr/>
        </p:nvSpPr>
        <p:spPr>
          <a:xfrm>
            <a:off x="868680" y="3639312"/>
            <a:ext cx="2064944" cy="868680"/>
          </a:xfrm>
          <a:prstGeom prst="rect">
            <a:avLst/>
          </a:prstGeom>
          <a:noFill/>
          <a:ln/>
        </p:spPr>
        <p:txBody>
          <a:bodyPr wrap="square" lIns="0" tIns="0" rIns="0" bIns="0" rtlCol="0" anchor="ctr"/>
          <a:lstStyle/>
          <a:p>
            <a:pPr algn="ctr" indent="0" marL="0">
              <a:lnSpc>
                <a:spcPts val="1800"/>
              </a:lnSpc>
              <a:buNone/>
            </a:pPr>
            <a:r>
              <a:rPr lang="en-US" sz="1150" dirty="0">
                <a:solidFill>
                  <a:srgbClr val="5A6B80"/>
                </a:solidFill>
                <a:latin typeface="Meiryo" pitchFamily="34" charset="0"/>
                <a:ea typeface="Meiryo" pitchFamily="34" charset="-122"/>
                <a:cs typeface="Meiryo" pitchFamily="34" charset="-120"/>
              </a:rPr>
              <a:t>現状の管理方法と課題を整理します。（約60分）</a:t>
            </a:r>
            <a:endParaRPr lang="en-US" sz="1150" dirty="0"/>
          </a:p>
        </p:txBody>
      </p:sp>
      <p:sp>
        <p:nvSpPr>
          <p:cNvPr id="10" name="Shape 8"/>
          <p:cNvSpPr/>
          <p:nvPr/>
        </p:nvSpPr>
        <p:spPr>
          <a:xfrm>
            <a:off x="3212516" y="3310128"/>
            <a:ext cx="173736" cy="237744"/>
          </a:xfrm>
          <a:prstGeom prst="rightArrow">
            <a:avLst/>
          </a:prstGeom>
          <a:solidFill>
            <a:srgbClr val="DBE7F5"/>
          </a:solidFill>
          <a:ln w="12700">
            <a:solidFill>
              <a:srgbClr val="DBE7F5"/>
            </a:solidFill>
            <a:prstDash val="solid"/>
          </a:ln>
        </p:spPr>
      </p:sp>
      <p:sp>
        <p:nvSpPr>
          <p:cNvPr id="11" name="Shape 9"/>
          <p:cNvSpPr/>
          <p:nvPr/>
        </p:nvSpPr>
        <p:spPr>
          <a:xfrm>
            <a:off x="3436544" y="2194560"/>
            <a:ext cx="2522144" cy="2423160"/>
          </a:xfrm>
          <a:prstGeom prst="roundRect">
            <a:avLst>
              <a:gd name="adj" fmla="val 4528"/>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2" name="Shape 10"/>
          <p:cNvSpPr/>
          <p:nvPr/>
        </p:nvSpPr>
        <p:spPr>
          <a:xfrm>
            <a:off x="4377576" y="1874520"/>
            <a:ext cx="640080" cy="640080"/>
          </a:xfrm>
          <a:prstGeom prst="ellipse">
            <a:avLst/>
          </a:prstGeom>
          <a:solidFill>
            <a:srgbClr val="1C5CAB"/>
          </a:solidFill>
          <a:ln w="38100">
            <a:solidFill>
              <a:srgbClr val="FFFFFF"/>
            </a:solidFill>
            <a:prstDash val="solid"/>
          </a:ln>
        </p:spPr>
      </p:sp>
      <p:sp>
        <p:nvSpPr>
          <p:cNvPr id="13" name="Text 11"/>
          <p:cNvSpPr txBox="1"/>
          <p:nvPr/>
        </p:nvSpPr>
        <p:spPr>
          <a:xfrm>
            <a:off x="4377576"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4" name="Text 12"/>
          <p:cNvSpPr txBox="1"/>
          <p:nvPr/>
        </p:nvSpPr>
        <p:spPr>
          <a:xfrm>
            <a:off x="3665144" y="2697480"/>
            <a:ext cx="2064944" cy="274320"/>
          </a:xfrm>
          <a:prstGeom prst="rect">
            <a:avLst/>
          </a:prstGeom>
          <a:noFill/>
          <a:ln/>
        </p:spPr>
        <p:txBody>
          <a:bodyPr wrap="square" lIns="0" tIns="0" rIns="0" bIns="0" rtlCol="0" anchor="ctr"/>
          <a:lstStyle/>
          <a:p>
            <a:pPr algn="ctr" indent="0" marL="0">
              <a:buNone/>
            </a:pPr>
            <a:r>
              <a:rPr lang="en-US" sz="1050" b="1" dirty="0">
                <a:solidFill>
                  <a:srgbClr val="2A78D6"/>
                </a:solidFill>
                <a:latin typeface="Meiryo" pitchFamily="34" charset="0"/>
                <a:ea typeface="Meiryo" pitchFamily="34" charset="-122"/>
                <a:cs typeface="Meiryo" pitchFamily="34" charset="-120"/>
              </a:rPr>
              <a:t>STEP 2</a:t>
            </a:r>
            <a:endParaRPr lang="en-US" sz="1050" dirty="0"/>
          </a:p>
        </p:txBody>
      </p:sp>
      <p:sp>
        <p:nvSpPr>
          <p:cNvPr id="15" name="Text 13"/>
          <p:cNvSpPr txBox="1"/>
          <p:nvPr/>
        </p:nvSpPr>
        <p:spPr>
          <a:xfrm>
            <a:off x="3619424" y="3017520"/>
            <a:ext cx="2156384" cy="685800"/>
          </a:xfrm>
          <a:prstGeom prst="rect">
            <a:avLst/>
          </a:prstGeom>
          <a:noFill/>
          <a:ln/>
        </p:spPr>
        <p:txBody>
          <a:bodyPr wrap="square" lIns="0" tIns="0" rIns="0" bIns="0" rtlCol="0" anchor="ctr"/>
          <a:lstStyle/>
          <a:p>
            <a:pPr algn="ctr" indent="0" marL="0">
              <a:buNone/>
            </a:pPr>
            <a:r>
              <a:rPr lang="en-US" sz="1500" b="1" dirty="0">
                <a:solidFill>
                  <a:srgbClr val="0C2340"/>
                </a:solidFill>
                <a:latin typeface="Meiryo" pitchFamily="34" charset="0"/>
                <a:ea typeface="Meiryo" pitchFamily="34" charset="-122"/>
                <a:cs typeface="Meiryo" pitchFamily="34" charset="-120"/>
              </a:rPr>
              <a:t>初期設定</a:t>
            </a:r>
            <a:endParaRPr lang="en-US" sz="1500" dirty="0"/>
          </a:p>
        </p:txBody>
      </p:sp>
      <p:sp>
        <p:nvSpPr>
          <p:cNvPr id="16" name="Text 14"/>
          <p:cNvSpPr txBox="1"/>
          <p:nvPr/>
        </p:nvSpPr>
        <p:spPr>
          <a:xfrm>
            <a:off x="3665144" y="3639312"/>
            <a:ext cx="2064944" cy="868680"/>
          </a:xfrm>
          <a:prstGeom prst="rect">
            <a:avLst/>
          </a:prstGeom>
          <a:noFill/>
          <a:ln/>
        </p:spPr>
        <p:txBody>
          <a:bodyPr wrap="square" lIns="0" tIns="0" rIns="0" bIns="0" rtlCol="0" anchor="ctr"/>
          <a:lstStyle/>
          <a:p>
            <a:pPr algn="ctr" indent="0" marL="0">
              <a:lnSpc>
                <a:spcPts val="1800"/>
              </a:lnSpc>
              <a:buNone/>
            </a:pPr>
            <a:r>
              <a:rPr lang="en-US" sz="1150" dirty="0">
                <a:solidFill>
                  <a:srgbClr val="5A6B80"/>
                </a:solidFill>
                <a:latin typeface="Meiryo" pitchFamily="34" charset="0"/>
                <a:ea typeface="Meiryo" pitchFamily="34" charset="-122"/>
                <a:cs typeface="Meiryo" pitchFamily="34" charset="-120"/>
              </a:rPr>
              <a:t>ワークスペース作成とメンバー招待を行います。</a:t>
            </a:r>
            <a:endParaRPr lang="en-US" sz="1150" dirty="0"/>
          </a:p>
        </p:txBody>
      </p:sp>
      <p:sp>
        <p:nvSpPr>
          <p:cNvPr id="17" name="Shape 15"/>
          <p:cNvSpPr/>
          <p:nvPr/>
        </p:nvSpPr>
        <p:spPr>
          <a:xfrm>
            <a:off x="6008980" y="3310128"/>
            <a:ext cx="173736" cy="237744"/>
          </a:xfrm>
          <a:prstGeom prst="rightArrow">
            <a:avLst/>
          </a:prstGeom>
          <a:solidFill>
            <a:srgbClr val="DBE7F5"/>
          </a:solidFill>
          <a:ln w="12700">
            <a:solidFill>
              <a:srgbClr val="DBE7F5"/>
            </a:solidFill>
            <a:prstDash val="solid"/>
          </a:ln>
        </p:spPr>
      </p:sp>
      <p:sp>
        <p:nvSpPr>
          <p:cNvPr id="18" name="Shape 16"/>
          <p:cNvSpPr/>
          <p:nvPr/>
        </p:nvSpPr>
        <p:spPr>
          <a:xfrm>
            <a:off x="6233008" y="2194560"/>
            <a:ext cx="2522144" cy="2423160"/>
          </a:xfrm>
          <a:prstGeom prst="roundRect">
            <a:avLst>
              <a:gd name="adj" fmla="val 4528"/>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9" name="Shape 17"/>
          <p:cNvSpPr/>
          <p:nvPr/>
        </p:nvSpPr>
        <p:spPr>
          <a:xfrm>
            <a:off x="7174040" y="1874520"/>
            <a:ext cx="640080" cy="640080"/>
          </a:xfrm>
          <a:prstGeom prst="ellipse">
            <a:avLst/>
          </a:prstGeom>
          <a:solidFill>
            <a:srgbClr val="1C5CAB"/>
          </a:solidFill>
          <a:ln w="38100">
            <a:solidFill>
              <a:srgbClr val="FFFFFF"/>
            </a:solidFill>
            <a:prstDash val="solid"/>
          </a:ln>
        </p:spPr>
      </p:sp>
      <p:sp>
        <p:nvSpPr>
          <p:cNvPr id="20" name="Text 18"/>
          <p:cNvSpPr txBox="1"/>
          <p:nvPr/>
        </p:nvSpPr>
        <p:spPr>
          <a:xfrm>
            <a:off x="7174040"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21" name="Text 19"/>
          <p:cNvSpPr txBox="1"/>
          <p:nvPr/>
        </p:nvSpPr>
        <p:spPr>
          <a:xfrm>
            <a:off x="6461608" y="2697480"/>
            <a:ext cx="2064944" cy="274320"/>
          </a:xfrm>
          <a:prstGeom prst="rect">
            <a:avLst/>
          </a:prstGeom>
          <a:noFill/>
          <a:ln/>
        </p:spPr>
        <p:txBody>
          <a:bodyPr wrap="square" lIns="0" tIns="0" rIns="0" bIns="0" rtlCol="0" anchor="ctr"/>
          <a:lstStyle/>
          <a:p>
            <a:pPr algn="ctr" indent="0" marL="0">
              <a:buNone/>
            </a:pPr>
            <a:r>
              <a:rPr lang="en-US" sz="1050" b="1" dirty="0">
                <a:solidFill>
                  <a:srgbClr val="2A78D6"/>
                </a:solidFill>
                <a:latin typeface="Meiryo" pitchFamily="34" charset="0"/>
                <a:ea typeface="Meiryo" pitchFamily="34" charset="-122"/>
                <a:cs typeface="Meiryo" pitchFamily="34" charset="-120"/>
              </a:rPr>
              <a:t>STEP 3</a:t>
            </a:r>
            <a:endParaRPr lang="en-US" sz="1050" dirty="0"/>
          </a:p>
        </p:txBody>
      </p:sp>
      <p:sp>
        <p:nvSpPr>
          <p:cNvPr id="22" name="Text 20"/>
          <p:cNvSpPr txBox="1"/>
          <p:nvPr/>
        </p:nvSpPr>
        <p:spPr>
          <a:xfrm>
            <a:off x="6415888" y="3017520"/>
            <a:ext cx="2156384" cy="685800"/>
          </a:xfrm>
          <a:prstGeom prst="rect">
            <a:avLst/>
          </a:prstGeom>
          <a:noFill/>
          <a:ln/>
        </p:spPr>
        <p:txBody>
          <a:bodyPr wrap="square" lIns="0" tIns="0" rIns="0" bIns="0" rtlCol="0" anchor="ctr"/>
          <a:lstStyle/>
          <a:p>
            <a:pPr algn="ctr" indent="0" marL="0">
              <a:buNone/>
            </a:pPr>
            <a:r>
              <a:rPr lang="en-US" sz="1500" b="1" dirty="0">
                <a:solidFill>
                  <a:srgbClr val="0C2340"/>
                </a:solidFill>
                <a:latin typeface="Meiryo" pitchFamily="34" charset="0"/>
                <a:ea typeface="Meiryo" pitchFamily="34" charset="-122"/>
                <a:cs typeface="Meiryo" pitchFamily="34" charset="-120"/>
              </a:rPr>
              <a:t>操作レクチャー</a:t>
            </a:r>
            <a:endParaRPr lang="en-US" sz="1500" dirty="0"/>
          </a:p>
        </p:txBody>
      </p:sp>
      <p:sp>
        <p:nvSpPr>
          <p:cNvPr id="23" name="Text 21"/>
          <p:cNvSpPr txBox="1"/>
          <p:nvPr/>
        </p:nvSpPr>
        <p:spPr>
          <a:xfrm>
            <a:off x="6461608" y="3639312"/>
            <a:ext cx="2064944" cy="868680"/>
          </a:xfrm>
          <a:prstGeom prst="rect">
            <a:avLst/>
          </a:prstGeom>
          <a:noFill/>
          <a:ln/>
        </p:spPr>
        <p:txBody>
          <a:bodyPr wrap="square" lIns="0" tIns="0" rIns="0" bIns="0" rtlCol="0" anchor="ctr"/>
          <a:lstStyle/>
          <a:p>
            <a:pPr algn="ctr" indent="0" marL="0">
              <a:lnSpc>
                <a:spcPts val="1800"/>
              </a:lnSpc>
              <a:buNone/>
            </a:pPr>
            <a:r>
              <a:rPr lang="en-US" sz="1150" dirty="0">
                <a:solidFill>
                  <a:srgbClr val="5A6B80"/>
                </a:solidFill>
                <a:latin typeface="Meiryo" pitchFamily="34" charset="0"/>
                <a:ea typeface="Meiryo" pitchFamily="34" charset="-122"/>
                <a:cs typeface="Meiryo" pitchFamily="34" charset="-120"/>
              </a:rPr>
              <a:t>実際のプロジェクトを登録しながら操作を習得。</a:t>
            </a:r>
            <a:endParaRPr lang="en-US" sz="1150" dirty="0"/>
          </a:p>
        </p:txBody>
      </p:sp>
      <p:sp>
        <p:nvSpPr>
          <p:cNvPr id="24" name="Shape 22"/>
          <p:cNvSpPr/>
          <p:nvPr/>
        </p:nvSpPr>
        <p:spPr>
          <a:xfrm>
            <a:off x="8805443" y="3310128"/>
            <a:ext cx="173736" cy="237744"/>
          </a:xfrm>
          <a:prstGeom prst="rightArrow">
            <a:avLst/>
          </a:prstGeom>
          <a:solidFill>
            <a:srgbClr val="DBE7F5"/>
          </a:solidFill>
          <a:ln w="12700">
            <a:solidFill>
              <a:srgbClr val="DBE7F5"/>
            </a:solidFill>
            <a:prstDash val="solid"/>
          </a:ln>
        </p:spPr>
      </p:sp>
      <p:sp>
        <p:nvSpPr>
          <p:cNvPr id="25" name="Shape 23"/>
          <p:cNvSpPr/>
          <p:nvPr/>
        </p:nvSpPr>
        <p:spPr>
          <a:xfrm>
            <a:off x="9029471" y="2194560"/>
            <a:ext cx="2522144" cy="2423160"/>
          </a:xfrm>
          <a:prstGeom prst="roundRect">
            <a:avLst>
              <a:gd name="adj" fmla="val 4528"/>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26" name="Shape 24"/>
          <p:cNvSpPr/>
          <p:nvPr/>
        </p:nvSpPr>
        <p:spPr>
          <a:xfrm>
            <a:off x="9970503" y="1874520"/>
            <a:ext cx="640080" cy="640080"/>
          </a:xfrm>
          <a:prstGeom prst="ellipse">
            <a:avLst/>
          </a:prstGeom>
          <a:solidFill>
            <a:srgbClr val="1C5CAB"/>
          </a:solidFill>
          <a:ln w="38100">
            <a:solidFill>
              <a:srgbClr val="FFFFFF"/>
            </a:solidFill>
            <a:prstDash val="solid"/>
          </a:ln>
        </p:spPr>
      </p:sp>
      <p:sp>
        <p:nvSpPr>
          <p:cNvPr id="27" name="Text 25"/>
          <p:cNvSpPr txBox="1"/>
          <p:nvPr/>
        </p:nvSpPr>
        <p:spPr>
          <a:xfrm>
            <a:off x="9970503"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28" name="Text 26"/>
          <p:cNvSpPr txBox="1"/>
          <p:nvPr/>
        </p:nvSpPr>
        <p:spPr>
          <a:xfrm>
            <a:off x="9258071" y="2697480"/>
            <a:ext cx="2064944" cy="274320"/>
          </a:xfrm>
          <a:prstGeom prst="rect">
            <a:avLst/>
          </a:prstGeom>
          <a:noFill/>
          <a:ln/>
        </p:spPr>
        <p:txBody>
          <a:bodyPr wrap="square" lIns="0" tIns="0" rIns="0" bIns="0" rtlCol="0" anchor="ctr"/>
          <a:lstStyle/>
          <a:p>
            <a:pPr algn="ctr" indent="0" marL="0">
              <a:buNone/>
            </a:pPr>
            <a:r>
              <a:rPr lang="en-US" sz="1050" b="1" dirty="0">
                <a:solidFill>
                  <a:srgbClr val="2A78D6"/>
                </a:solidFill>
                <a:latin typeface="Meiryo" pitchFamily="34" charset="0"/>
                <a:ea typeface="Meiryo" pitchFamily="34" charset="-122"/>
                <a:cs typeface="Meiryo" pitchFamily="34" charset="-120"/>
              </a:rPr>
              <a:t>STEP 4</a:t>
            </a:r>
            <a:endParaRPr lang="en-US" sz="1050" dirty="0"/>
          </a:p>
        </p:txBody>
      </p:sp>
      <p:sp>
        <p:nvSpPr>
          <p:cNvPr id="29" name="Text 27"/>
          <p:cNvSpPr txBox="1"/>
          <p:nvPr/>
        </p:nvSpPr>
        <p:spPr>
          <a:xfrm>
            <a:off x="9212351" y="3017520"/>
            <a:ext cx="2156384" cy="685800"/>
          </a:xfrm>
          <a:prstGeom prst="rect">
            <a:avLst/>
          </a:prstGeom>
          <a:noFill/>
          <a:ln/>
        </p:spPr>
        <p:txBody>
          <a:bodyPr wrap="square" lIns="0" tIns="0" rIns="0" bIns="0" rtlCol="0" anchor="ctr"/>
          <a:lstStyle/>
          <a:p>
            <a:pPr algn="ctr" indent="0" marL="0">
              <a:buNone/>
            </a:pPr>
            <a:r>
              <a:rPr lang="en-US" sz="1500" b="1" dirty="0">
                <a:solidFill>
                  <a:srgbClr val="0C2340"/>
                </a:solidFill>
                <a:latin typeface="Meiryo" pitchFamily="34" charset="0"/>
                <a:ea typeface="Meiryo" pitchFamily="34" charset="-122"/>
                <a:cs typeface="Meiryo" pitchFamily="34" charset="-120"/>
              </a:rPr>
              <a:t>運用開始・定着支援</a:t>
            </a:r>
            <a:endParaRPr lang="en-US" sz="1500" dirty="0"/>
          </a:p>
        </p:txBody>
      </p:sp>
      <p:sp>
        <p:nvSpPr>
          <p:cNvPr id="30" name="Text 28"/>
          <p:cNvSpPr txBox="1"/>
          <p:nvPr/>
        </p:nvSpPr>
        <p:spPr>
          <a:xfrm>
            <a:off x="9258071" y="3639312"/>
            <a:ext cx="2064944" cy="868680"/>
          </a:xfrm>
          <a:prstGeom prst="rect">
            <a:avLst/>
          </a:prstGeom>
          <a:noFill/>
          <a:ln/>
        </p:spPr>
        <p:txBody>
          <a:bodyPr wrap="square" lIns="0" tIns="0" rIns="0" bIns="0" rtlCol="0" anchor="ctr"/>
          <a:lstStyle/>
          <a:p>
            <a:pPr algn="ctr" indent="0" marL="0">
              <a:lnSpc>
                <a:spcPts val="1800"/>
              </a:lnSpc>
              <a:buNone/>
            </a:pPr>
            <a:r>
              <a:rPr lang="en-US" sz="1150" dirty="0">
                <a:solidFill>
                  <a:srgbClr val="5A6B80"/>
                </a:solidFill>
                <a:latin typeface="Meiryo" pitchFamily="34" charset="0"/>
                <a:ea typeface="Meiryo" pitchFamily="34" charset="-122"/>
                <a:cs typeface="Meiryo" pitchFamily="34" charset="-120"/>
              </a:rPr>
              <a:t>月次で運用状況を確認し、改善をご提案します。</a:t>
            </a:r>
            <a:endParaRPr lang="en-US" sz="1150" dirty="0"/>
          </a:p>
        </p:txBody>
      </p:sp>
      <p:sp>
        <p:nvSpPr>
          <p:cNvPr id="31" name="Text 29"/>
          <p:cNvSpPr txBox="1"/>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8B99AB"/>
                </a:solidFill>
                <a:latin typeface="Meiryo" pitchFamily="34" charset="0"/>
                <a:ea typeface="Meiryo" pitchFamily="34" charset="-122"/>
                <a:cs typeface="Meiryo" pitchFamily="34" charset="-120"/>
              </a:rPr>
              <a:t>9</a:t>
            </a:r>
            <a:endParaRPr lang="en-US" sz="1000" dirty="0"/>
          </a:p>
        </p:txBody>
      </p:sp>
      <p:sp>
        <p:nvSpPr>
          <p:cNvPr id="32" name="Text 30"/>
          <p:cNvSpPr txBox="1"/>
          <p:nvPr/>
        </p:nvSpPr>
        <p:spPr>
          <a:xfrm>
            <a:off x="640080" y="6291072"/>
            <a:ext cx="1828800" cy="274320"/>
          </a:xfrm>
          <a:prstGeom prst="rect">
            <a:avLst/>
          </a:prstGeom>
          <a:noFill/>
          <a:ln/>
        </p:spPr>
        <p:txBody>
          <a:bodyPr wrap="square" lIns="0" tIns="0" rIns="0" bIns="0" rtlCol="0" anchor="ctr"/>
          <a:lstStyle/>
          <a:p>
            <a:pPr indent="0" marL="0">
              <a:buNone/>
            </a:pPr>
            <a:r>
              <a:rPr lang="en-US" sz="1000" b="1" dirty="0">
                <a:solidFill>
                  <a:srgbClr val="8B99AB"/>
                </a:solidFill>
                <a:latin typeface="Meiryo" pitchFamily="34" charset="0"/>
                <a:ea typeface="Meiryo" pitchFamily="34" charset="-122"/>
                <a:cs typeface="Meiryo" pitchFamily="34" charset="-120"/>
              </a:rPr>
              <a:t>Hittatsu</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566928"/>
          </a:xfrm>
          <a:prstGeom prst="rect">
            <a:avLst/>
          </a:prstGeom>
          <a:noFill/>
          <a:ln/>
        </p:spPr>
        <p:txBody>
          <a:bodyPr wrap="square" lIns="0" tIns="0" rIns="0" bIns="0" rtlCol="0" anchor="ctr"/>
          <a:lstStyle/>
          <a:p>
            <a:pPr indent="0" marL="0">
              <a:buNone/>
            </a:pPr>
            <a:r>
              <a:rPr lang="en-US" sz="3000" b="1" dirty="0">
                <a:solidFill>
                  <a:srgbClr val="0C2340"/>
                </a:solidFill>
                <a:latin typeface="Meiryo" pitchFamily="34" charset="0"/>
                <a:ea typeface="Meiryo" pitchFamily="34" charset="-122"/>
                <a:cs typeface="Meiryo" pitchFamily="34" charset="-120"/>
              </a:rPr>
              <a:t>料金プラン</a:t>
            </a:r>
            <a:endParaRPr lang="en-US" sz="3000" dirty="0"/>
          </a:p>
        </p:txBody>
      </p:sp>
      <p:sp>
        <p:nvSpPr>
          <p:cNvPr id="3" name="Text 1"/>
          <p:cNvSpPr txBox="1"/>
          <p:nvPr/>
        </p:nvSpPr>
        <p:spPr>
          <a:xfrm>
            <a:off x="640080" y="1078992"/>
            <a:ext cx="10911535" cy="329184"/>
          </a:xfrm>
          <a:prstGeom prst="rect">
            <a:avLst/>
          </a:prstGeom>
          <a:noFill/>
          <a:ln/>
        </p:spPr>
        <p:txBody>
          <a:bodyPr wrap="square" lIns="0" tIns="0" rIns="0" bIns="0" rtlCol="0" anchor="ctr"/>
          <a:lstStyle/>
          <a:p>
            <a:pPr indent="0" marL="0">
              <a:buNone/>
            </a:pPr>
            <a:r>
              <a:rPr lang="en-US" sz="1300" dirty="0">
                <a:solidFill>
                  <a:srgbClr val="5A6B80"/>
                </a:solidFill>
                <a:latin typeface="Meiryo" pitchFamily="34" charset="0"/>
                <a:ea typeface="Meiryo" pitchFamily="34" charset="-122"/>
                <a:cs typeface="Meiryo" pitchFamily="34" charset="-120"/>
              </a:rPr>
              <a:t>※ 金額は確定前の記入例です。実際の条件に差し替えてください。</a:t>
            </a:r>
            <a:endParaRPr lang="en-US" sz="1300" dirty="0"/>
          </a:p>
        </p:txBody>
      </p:sp>
      <p:sp>
        <p:nvSpPr>
          <p:cNvPr id="4" name="Shape 2"/>
          <p:cNvSpPr/>
          <p:nvPr/>
        </p:nvSpPr>
        <p:spPr>
          <a:xfrm>
            <a:off x="640080" y="1965960"/>
            <a:ext cx="3454298" cy="3246120"/>
          </a:xfrm>
          <a:prstGeom prst="roundRect">
            <a:avLst>
              <a:gd name="adj" fmla="val 3380"/>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5" name="Text 3"/>
          <p:cNvSpPr txBox="1"/>
          <p:nvPr/>
        </p:nvSpPr>
        <p:spPr>
          <a:xfrm>
            <a:off x="868680" y="2194560"/>
            <a:ext cx="2997098" cy="411480"/>
          </a:xfrm>
          <a:prstGeom prst="rect">
            <a:avLst/>
          </a:prstGeom>
          <a:noFill/>
          <a:ln/>
        </p:spPr>
        <p:txBody>
          <a:bodyPr wrap="square" lIns="0" tIns="0" rIns="0" bIns="0" rtlCol="0" anchor="ctr"/>
          <a:lstStyle/>
          <a:p>
            <a:pPr algn="ctr" indent="0" marL="0">
              <a:buNone/>
            </a:pPr>
            <a:r>
              <a:rPr lang="en-US" sz="2000" b="1" dirty="0">
                <a:solidFill>
                  <a:srgbClr val="0C2340"/>
                </a:solidFill>
                <a:latin typeface="Meiryo" pitchFamily="34" charset="0"/>
                <a:ea typeface="Meiryo" pitchFamily="34" charset="-122"/>
                <a:cs typeface="Meiryo" pitchFamily="34" charset="-120"/>
              </a:rPr>
              <a:t>Starter</a:t>
            </a:r>
            <a:endParaRPr lang="en-US" sz="2000" dirty="0"/>
          </a:p>
        </p:txBody>
      </p:sp>
      <p:sp>
        <p:nvSpPr>
          <p:cNvPr id="6" name="Text 4"/>
          <p:cNvSpPr txBox="1"/>
          <p:nvPr/>
        </p:nvSpPr>
        <p:spPr>
          <a:xfrm>
            <a:off x="868680" y="2606040"/>
            <a:ext cx="2997098" cy="292608"/>
          </a:xfrm>
          <a:prstGeom prst="rect">
            <a:avLst/>
          </a:prstGeom>
          <a:noFill/>
          <a:ln/>
        </p:spPr>
        <p:txBody>
          <a:bodyPr wrap="square" lIns="0" tIns="0" rIns="0" bIns="0" rtlCol="0" anchor="ctr"/>
          <a:lstStyle/>
          <a:p>
            <a:pPr algn="ctr" indent="0" marL="0">
              <a:buNone/>
            </a:pPr>
            <a:r>
              <a:rPr lang="en-US" sz="1100" dirty="0">
                <a:solidFill>
                  <a:srgbClr val="5A6B80"/>
                </a:solidFill>
                <a:latin typeface="Meiryo" pitchFamily="34" charset="0"/>
                <a:ea typeface="Meiryo" pitchFamily="34" charset="-122"/>
                <a:cs typeface="Meiryo" pitchFamily="34" charset="-120"/>
              </a:rPr>
              <a:t>小さく始めるチーム向け</a:t>
            </a:r>
            <a:endParaRPr lang="en-US" sz="1100" dirty="0"/>
          </a:p>
        </p:txBody>
      </p:sp>
      <p:sp>
        <p:nvSpPr>
          <p:cNvPr id="7" name="Text 5"/>
          <p:cNvSpPr txBox="1"/>
          <p:nvPr/>
        </p:nvSpPr>
        <p:spPr>
          <a:xfrm>
            <a:off x="777240" y="3017520"/>
            <a:ext cx="3179978" cy="640080"/>
          </a:xfrm>
          <a:prstGeom prst="rect">
            <a:avLst/>
          </a:prstGeom>
          <a:noFill/>
          <a:ln/>
        </p:spPr>
        <p:txBody>
          <a:bodyPr wrap="square" lIns="0" tIns="0" rIns="0" bIns="0" rtlCol="0" anchor="ctr"/>
          <a:lstStyle/>
          <a:p>
            <a:pPr algn="ctr" indent="0" marL="0">
              <a:buNone/>
            </a:pPr>
            <a:r>
              <a:rPr lang="en-US" sz="1300" dirty="0">
                <a:solidFill>
                  <a:srgbClr val="0C2340"/>
                </a:solidFill>
                <a:latin typeface="Meiryo" pitchFamily="34" charset="0"/>
                <a:ea typeface="Meiryo" pitchFamily="34" charset="-122"/>
                <a:cs typeface="Meiryo" pitchFamily="34" charset="-120"/>
              </a:rPr>
              <a:t>月額 </a:t>
            </a:r>
            <a:pPr algn="ctr" indent="0" marL="0">
              <a:buNone/>
            </a:pPr>
            <a:r>
              <a:rPr lang="en-US" sz="2800" b="1" dirty="0">
                <a:solidFill>
                  <a:srgbClr val="0C2340"/>
                </a:solidFill>
                <a:latin typeface="Meiryo" pitchFamily="34" charset="0"/>
                <a:ea typeface="Meiryo" pitchFamily="34" charset="-122"/>
                <a:cs typeface="Meiryo" pitchFamily="34" charset="-120"/>
              </a:rPr>
              <a:t>0,000</a:t>
            </a:r>
            <a:pPr algn="ctr" indent="0" marL="0">
              <a:buNone/>
            </a:pPr>
            <a:r>
              <a:rPr lang="en-US" sz="1300" dirty="0">
                <a:solidFill>
                  <a:srgbClr val="0C2340"/>
                </a:solidFill>
                <a:latin typeface="Meiryo" pitchFamily="34" charset="0"/>
                <a:ea typeface="Meiryo" pitchFamily="34" charset="-122"/>
                <a:cs typeface="Meiryo" pitchFamily="34" charset="-120"/>
              </a:rPr>
              <a:t> 円</a:t>
            </a:r>
            <a:endParaRPr lang="en-US" sz="1300" dirty="0"/>
          </a:p>
        </p:txBody>
      </p:sp>
      <p:sp>
        <p:nvSpPr>
          <p:cNvPr id="8" name="Text 6"/>
          <p:cNvSpPr txBox="1"/>
          <p:nvPr/>
        </p:nvSpPr>
        <p:spPr>
          <a:xfrm>
            <a:off x="960120" y="3794760"/>
            <a:ext cx="2905658" cy="123444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00" dirty="0">
                <a:solidFill>
                  <a:srgbClr val="16202E"/>
                </a:solidFill>
                <a:latin typeface="Meiryo" pitchFamily="34" charset="0"/>
                <a:ea typeface="Meiryo" pitchFamily="34" charset="-122"/>
                <a:cs typeface="Meiryo" pitchFamily="34" charset="-120"/>
              </a:rPr>
              <a:t>〜10ユーザー</a:t>
            </a:r>
            <a:endParaRPr lang="en-US" sz="1200" dirty="0"/>
          </a:p>
          <a:p>
            <a:pPr marL="342900" indent="-342900">
              <a:lnSpc>
                <a:spcPts val="1900"/>
              </a:lnSpc>
              <a:spcAft>
                <a:spcPts val="800"/>
              </a:spcAft>
              <a:buSzPct val="100000"/>
              <a:buChar char="•"/>
            </a:pPr>
            <a:r>
              <a:rPr lang="en-US" sz="1200" dirty="0">
                <a:solidFill>
                  <a:srgbClr val="16202E"/>
                </a:solidFill>
                <a:latin typeface="Meiryo" pitchFamily="34" charset="0"/>
                <a:ea typeface="Meiryo" pitchFamily="34" charset="-122"/>
                <a:cs typeface="Meiryo" pitchFamily="34" charset="-120"/>
              </a:rPr>
              <a:t>基本機能すべて</a:t>
            </a:r>
            <a:endParaRPr lang="en-US" sz="1200" dirty="0"/>
          </a:p>
          <a:p>
            <a:pPr marL="342900" indent="-342900">
              <a:lnSpc>
                <a:spcPts val="1900"/>
              </a:lnSpc>
              <a:spcAft>
                <a:spcPts val="800"/>
              </a:spcAft>
              <a:buSzPct val="100000"/>
              <a:buChar char="•"/>
            </a:pPr>
            <a:r>
              <a:rPr lang="en-US" sz="1200" dirty="0">
                <a:solidFill>
                  <a:srgbClr val="16202E"/>
                </a:solidFill>
                <a:latin typeface="Meiryo" pitchFamily="34" charset="0"/>
                <a:ea typeface="Meiryo" pitchFamily="34" charset="-122"/>
                <a:cs typeface="Meiryo" pitchFamily="34" charset="-120"/>
              </a:rPr>
              <a:t>メールサポート</a:t>
            </a:r>
            <a:endParaRPr lang="en-US" sz="1200" dirty="0"/>
          </a:p>
        </p:txBody>
      </p:sp>
      <p:sp>
        <p:nvSpPr>
          <p:cNvPr id="9" name="Shape 7"/>
          <p:cNvSpPr/>
          <p:nvPr/>
        </p:nvSpPr>
        <p:spPr>
          <a:xfrm>
            <a:off x="4368698" y="1965960"/>
            <a:ext cx="3454298" cy="3246120"/>
          </a:xfrm>
          <a:prstGeom prst="roundRect">
            <a:avLst>
              <a:gd name="adj" fmla="val 3380"/>
            </a:avLst>
          </a:prstGeom>
          <a:solidFill>
            <a:srgbClr val="1C5CAB"/>
          </a:solidFill>
          <a:ln w="12700">
            <a:solidFill>
              <a:srgbClr val="1C5CAB"/>
            </a:solidFill>
            <a:prstDash val="solid"/>
          </a:ln>
          <a:effectLst>
            <a:outerShdw sx="100000" sy="100000" kx="0" ky="0" algn="bl" rotWithShape="0" blurRad="177800" dist="38100" dir="5400000">
              <a:srgbClr val="0C2340">
                <a:alpha val="10000"/>
              </a:srgbClr>
            </a:outerShdw>
          </a:effectLst>
        </p:spPr>
      </p:sp>
      <p:sp>
        <p:nvSpPr>
          <p:cNvPr id="10" name="Text 8"/>
          <p:cNvSpPr txBox="1"/>
          <p:nvPr/>
        </p:nvSpPr>
        <p:spPr>
          <a:xfrm>
            <a:off x="4597298" y="2194560"/>
            <a:ext cx="2997098"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Standard</a:t>
            </a:r>
            <a:endParaRPr lang="en-US" sz="2000" dirty="0"/>
          </a:p>
        </p:txBody>
      </p:sp>
      <p:sp>
        <p:nvSpPr>
          <p:cNvPr id="11" name="Text 9"/>
          <p:cNvSpPr txBox="1"/>
          <p:nvPr/>
        </p:nvSpPr>
        <p:spPr>
          <a:xfrm>
            <a:off x="4597298" y="2606040"/>
            <a:ext cx="2997098" cy="292608"/>
          </a:xfrm>
          <a:prstGeom prst="rect">
            <a:avLst/>
          </a:prstGeom>
          <a:noFill/>
          <a:ln/>
        </p:spPr>
        <p:txBody>
          <a:bodyPr wrap="square" lIns="0" tIns="0" rIns="0" bIns="0" rtlCol="0" anchor="ctr"/>
          <a:lstStyle/>
          <a:p>
            <a:pPr algn="ctr" indent="0" marL="0">
              <a:buNone/>
            </a:pPr>
            <a:r>
              <a:rPr lang="en-US" sz="1100" dirty="0">
                <a:solidFill>
                  <a:srgbClr val="DBE7F5"/>
                </a:solidFill>
                <a:latin typeface="Meiryo" pitchFamily="34" charset="0"/>
                <a:ea typeface="Meiryo" pitchFamily="34" charset="-122"/>
                <a:cs typeface="Meiryo" pitchFamily="34" charset="-120"/>
              </a:rPr>
              <a:t>全社展開のスタンダード</a:t>
            </a:r>
            <a:endParaRPr lang="en-US" sz="1100" dirty="0"/>
          </a:p>
        </p:txBody>
      </p:sp>
      <p:sp>
        <p:nvSpPr>
          <p:cNvPr id="12" name="Text 10"/>
          <p:cNvSpPr txBox="1"/>
          <p:nvPr/>
        </p:nvSpPr>
        <p:spPr>
          <a:xfrm>
            <a:off x="4505858" y="3017520"/>
            <a:ext cx="3179978" cy="640080"/>
          </a:xfrm>
          <a:prstGeom prst="rect">
            <a:avLst/>
          </a:prstGeom>
          <a:noFill/>
          <a:ln/>
        </p:spPr>
        <p:txBody>
          <a:bodyPr wrap="square" lIns="0" tIns="0" rIns="0" bIns="0" rtlCol="0" anchor="ctr"/>
          <a:lstStyle/>
          <a:p>
            <a:pPr algn="ctr" indent="0" marL="0">
              <a:buNone/>
            </a:pPr>
            <a:r>
              <a:rPr lang="en-US" sz="1300" dirty="0">
                <a:solidFill>
                  <a:srgbClr val="FFFFFF"/>
                </a:solidFill>
                <a:latin typeface="Meiryo" pitchFamily="34" charset="0"/>
                <a:ea typeface="Meiryo" pitchFamily="34" charset="-122"/>
                <a:cs typeface="Meiryo" pitchFamily="34" charset="-120"/>
              </a:rPr>
              <a:t>月額 </a:t>
            </a:r>
            <a:pPr algn="ctr" indent="0" marL="0">
              <a:buNone/>
            </a:pPr>
            <a:r>
              <a:rPr lang="en-US" sz="2200" b="1" dirty="0">
                <a:solidFill>
                  <a:srgbClr val="FFFFFF"/>
                </a:solidFill>
                <a:latin typeface="Meiryo" pitchFamily="34" charset="0"/>
                <a:ea typeface="Meiryo" pitchFamily="34" charset="-122"/>
                <a:cs typeface="Meiryo" pitchFamily="34" charset="-120"/>
              </a:rPr>
              <a:t>00,000</a:t>
            </a:r>
            <a:pPr algn="ctr" indent="0" marL="0">
              <a:buNone/>
            </a:pPr>
            <a:r>
              <a:rPr lang="en-US" sz="1300" dirty="0">
                <a:solidFill>
                  <a:srgbClr val="FFFFFF"/>
                </a:solidFill>
                <a:latin typeface="Meiryo" pitchFamily="34" charset="0"/>
                <a:ea typeface="Meiryo" pitchFamily="34" charset="-122"/>
                <a:cs typeface="Meiryo" pitchFamily="34" charset="-120"/>
              </a:rPr>
              <a:t> 円</a:t>
            </a:r>
            <a:endParaRPr lang="en-US" sz="1300" dirty="0"/>
          </a:p>
        </p:txBody>
      </p:sp>
      <p:sp>
        <p:nvSpPr>
          <p:cNvPr id="13" name="Text 11"/>
          <p:cNvSpPr txBox="1"/>
          <p:nvPr/>
        </p:nvSpPr>
        <p:spPr>
          <a:xfrm>
            <a:off x="4688738" y="3794760"/>
            <a:ext cx="2905658" cy="123444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00" dirty="0">
                <a:solidFill>
                  <a:srgbClr val="FFFFFF"/>
                </a:solidFill>
                <a:latin typeface="Meiryo" pitchFamily="34" charset="0"/>
                <a:ea typeface="Meiryo" pitchFamily="34" charset="-122"/>
                <a:cs typeface="Meiryo" pitchFamily="34" charset="-120"/>
              </a:rPr>
              <a:t>〜50ユーザー</a:t>
            </a:r>
            <a:endParaRPr lang="en-US" sz="1200" dirty="0"/>
          </a:p>
          <a:p>
            <a:pPr marL="342900" indent="-342900">
              <a:lnSpc>
                <a:spcPts val="1900"/>
              </a:lnSpc>
              <a:spcAft>
                <a:spcPts val="800"/>
              </a:spcAft>
              <a:buSzPct val="100000"/>
              <a:buChar char="•"/>
            </a:pPr>
            <a:r>
              <a:rPr lang="en-US" sz="1200" dirty="0">
                <a:solidFill>
                  <a:srgbClr val="FFFFFF"/>
                </a:solidFill>
                <a:latin typeface="Meiryo" pitchFamily="34" charset="0"/>
                <a:ea typeface="Meiryo" pitchFamily="34" charset="-122"/>
                <a:cs typeface="Meiryo" pitchFamily="34" charset="-120"/>
              </a:rPr>
              <a:t>Googleカレンダー連携</a:t>
            </a:r>
            <a:endParaRPr lang="en-US" sz="1200" dirty="0"/>
          </a:p>
          <a:p>
            <a:pPr marL="342900" indent="-342900">
              <a:lnSpc>
                <a:spcPts val="1900"/>
              </a:lnSpc>
              <a:spcAft>
                <a:spcPts val="800"/>
              </a:spcAft>
              <a:buSzPct val="100000"/>
              <a:buChar char="•"/>
            </a:pPr>
            <a:r>
              <a:rPr lang="en-US" sz="1200" dirty="0">
                <a:solidFill>
                  <a:srgbClr val="FFFFFF"/>
                </a:solidFill>
                <a:latin typeface="Meiryo" pitchFamily="34" charset="0"/>
                <a:ea typeface="Meiryo" pitchFamily="34" charset="-122"/>
                <a:cs typeface="Meiryo" pitchFamily="34" charset="-120"/>
              </a:rPr>
              <a:t>導入レクチャー付き</a:t>
            </a:r>
            <a:endParaRPr lang="en-US" sz="1200" dirty="0"/>
          </a:p>
        </p:txBody>
      </p:sp>
      <p:sp>
        <p:nvSpPr>
          <p:cNvPr id="14" name="Shape 12"/>
          <p:cNvSpPr/>
          <p:nvPr/>
        </p:nvSpPr>
        <p:spPr>
          <a:xfrm>
            <a:off x="8097317" y="1965960"/>
            <a:ext cx="3454298" cy="3246120"/>
          </a:xfrm>
          <a:prstGeom prst="roundRect">
            <a:avLst>
              <a:gd name="adj" fmla="val 3380"/>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5" name="Text 13"/>
          <p:cNvSpPr txBox="1"/>
          <p:nvPr/>
        </p:nvSpPr>
        <p:spPr>
          <a:xfrm>
            <a:off x="8325917" y="2194560"/>
            <a:ext cx="2997098" cy="411480"/>
          </a:xfrm>
          <a:prstGeom prst="rect">
            <a:avLst/>
          </a:prstGeom>
          <a:noFill/>
          <a:ln/>
        </p:spPr>
        <p:txBody>
          <a:bodyPr wrap="square" lIns="0" tIns="0" rIns="0" bIns="0" rtlCol="0" anchor="ctr"/>
          <a:lstStyle/>
          <a:p>
            <a:pPr algn="ctr" indent="0" marL="0">
              <a:buNone/>
            </a:pPr>
            <a:r>
              <a:rPr lang="en-US" sz="2000" b="1" dirty="0">
                <a:solidFill>
                  <a:srgbClr val="0C2340"/>
                </a:solidFill>
                <a:latin typeface="Meiryo" pitchFamily="34" charset="0"/>
                <a:ea typeface="Meiryo" pitchFamily="34" charset="-122"/>
                <a:cs typeface="Meiryo" pitchFamily="34" charset="-120"/>
              </a:rPr>
              <a:t>Enterprise</a:t>
            </a:r>
            <a:endParaRPr lang="en-US" sz="2000" dirty="0"/>
          </a:p>
        </p:txBody>
      </p:sp>
      <p:sp>
        <p:nvSpPr>
          <p:cNvPr id="16" name="Text 14"/>
          <p:cNvSpPr txBox="1"/>
          <p:nvPr/>
        </p:nvSpPr>
        <p:spPr>
          <a:xfrm>
            <a:off x="8325917" y="2606040"/>
            <a:ext cx="2997098" cy="292608"/>
          </a:xfrm>
          <a:prstGeom prst="rect">
            <a:avLst/>
          </a:prstGeom>
          <a:noFill/>
          <a:ln/>
        </p:spPr>
        <p:txBody>
          <a:bodyPr wrap="square" lIns="0" tIns="0" rIns="0" bIns="0" rtlCol="0" anchor="ctr"/>
          <a:lstStyle/>
          <a:p>
            <a:pPr algn="ctr" indent="0" marL="0">
              <a:buNone/>
            </a:pPr>
            <a:r>
              <a:rPr lang="en-US" sz="1100" dirty="0">
                <a:solidFill>
                  <a:srgbClr val="5A6B80"/>
                </a:solidFill>
                <a:latin typeface="Meiryo" pitchFamily="34" charset="0"/>
                <a:ea typeface="Meiryo" pitchFamily="34" charset="-122"/>
                <a:cs typeface="Meiryo" pitchFamily="34" charset="-120"/>
              </a:rPr>
              <a:t>個別要件に合わせて</a:t>
            </a:r>
            <a:endParaRPr lang="en-US" sz="1100" dirty="0"/>
          </a:p>
        </p:txBody>
      </p:sp>
      <p:sp>
        <p:nvSpPr>
          <p:cNvPr id="17" name="Text 15"/>
          <p:cNvSpPr txBox="1"/>
          <p:nvPr/>
        </p:nvSpPr>
        <p:spPr>
          <a:xfrm>
            <a:off x="8234477" y="3017520"/>
            <a:ext cx="3179978" cy="640080"/>
          </a:xfrm>
          <a:prstGeom prst="rect">
            <a:avLst/>
          </a:prstGeom>
          <a:noFill/>
          <a:ln/>
        </p:spPr>
        <p:txBody>
          <a:bodyPr wrap="square" lIns="0" tIns="0" rIns="0" bIns="0" rtlCol="0" anchor="ctr"/>
          <a:lstStyle/>
          <a:p>
            <a:pPr algn="ctr" indent="0" marL="0">
              <a:buNone/>
            </a:pPr>
            <a:pPr algn="ctr" indent="0" marL="0">
              <a:buNone/>
            </a:pPr>
            <a:r>
              <a:rPr lang="en-US" sz="2200" b="1" dirty="0">
                <a:solidFill>
                  <a:srgbClr val="0C2340"/>
                </a:solidFill>
                <a:latin typeface="Meiryo" pitchFamily="34" charset="0"/>
                <a:ea typeface="Meiryo" pitchFamily="34" charset="-122"/>
                <a:cs typeface="Meiryo" pitchFamily="34" charset="-120"/>
              </a:rPr>
              <a:t>個別お見積り</a:t>
            </a:r>
            <a:pPr algn="ctr" indent="0" marL="0">
              <a:buNone/>
            </a:pPr>
            <a:endParaRPr lang="en-US" sz="1300" dirty="0"/>
          </a:p>
        </p:txBody>
      </p:sp>
      <p:sp>
        <p:nvSpPr>
          <p:cNvPr id="18" name="Text 16"/>
          <p:cNvSpPr txBox="1"/>
          <p:nvPr/>
        </p:nvSpPr>
        <p:spPr>
          <a:xfrm>
            <a:off x="8417357" y="3794760"/>
            <a:ext cx="2905658" cy="123444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00" dirty="0">
                <a:solidFill>
                  <a:srgbClr val="16202E"/>
                </a:solidFill>
                <a:latin typeface="Meiryo" pitchFamily="34" charset="0"/>
                <a:ea typeface="Meiryo" pitchFamily="34" charset="-122"/>
                <a:cs typeface="Meiryo" pitchFamily="34" charset="-120"/>
              </a:rPr>
              <a:t>ユーザー数無制限</a:t>
            </a:r>
            <a:endParaRPr lang="en-US" sz="1200" dirty="0"/>
          </a:p>
          <a:p>
            <a:pPr marL="342900" indent="-342900">
              <a:lnSpc>
                <a:spcPts val="1900"/>
              </a:lnSpc>
              <a:spcAft>
                <a:spcPts val="800"/>
              </a:spcAft>
              <a:buSzPct val="100000"/>
              <a:buChar char="•"/>
            </a:pPr>
            <a:r>
              <a:rPr lang="en-US" sz="1200" dirty="0">
                <a:solidFill>
                  <a:srgbClr val="16202E"/>
                </a:solidFill>
                <a:latin typeface="Meiryo" pitchFamily="34" charset="0"/>
                <a:ea typeface="Meiryo" pitchFamily="34" charset="-122"/>
                <a:cs typeface="Meiryo" pitchFamily="34" charset="-120"/>
              </a:rPr>
              <a:t>権限・監査ログ</a:t>
            </a:r>
            <a:endParaRPr lang="en-US" sz="1200" dirty="0"/>
          </a:p>
          <a:p>
            <a:pPr marL="342900" indent="-342900">
              <a:lnSpc>
                <a:spcPts val="1900"/>
              </a:lnSpc>
              <a:spcAft>
                <a:spcPts val="800"/>
              </a:spcAft>
              <a:buSzPct val="100000"/>
              <a:buChar char="•"/>
            </a:pPr>
            <a:r>
              <a:rPr lang="en-US" sz="1200" dirty="0">
                <a:solidFill>
                  <a:srgbClr val="16202E"/>
                </a:solidFill>
                <a:latin typeface="Meiryo" pitchFamily="34" charset="0"/>
                <a:ea typeface="Meiryo" pitchFamily="34" charset="-122"/>
                <a:cs typeface="Meiryo" pitchFamily="34" charset="-120"/>
              </a:rPr>
              <a:t>専任担当による定着支援</a:t>
            </a:r>
            <a:endParaRPr lang="en-US" sz="1200" dirty="0"/>
          </a:p>
        </p:txBody>
      </p:sp>
      <p:sp>
        <p:nvSpPr>
          <p:cNvPr id="19" name="Text 17"/>
          <p:cNvSpPr txBox="1"/>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8B99AB"/>
                </a:solidFill>
                <a:latin typeface="Meiryo" pitchFamily="34" charset="0"/>
                <a:ea typeface="Meiryo" pitchFamily="34" charset="-122"/>
                <a:cs typeface="Meiryo" pitchFamily="34" charset="-120"/>
              </a:rPr>
              <a:t>10</a:t>
            </a:r>
            <a:endParaRPr lang="en-US" sz="1000" dirty="0"/>
          </a:p>
        </p:txBody>
      </p:sp>
      <p:sp>
        <p:nvSpPr>
          <p:cNvPr id="20" name="Text 18"/>
          <p:cNvSpPr txBox="1"/>
          <p:nvPr/>
        </p:nvSpPr>
        <p:spPr>
          <a:xfrm>
            <a:off x="640080" y="6291072"/>
            <a:ext cx="1828800" cy="274320"/>
          </a:xfrm>
          <a:prstGeom prst="rect">
            <a:avLst/>
          </a:prstGeom>
          <a:noFill/>
          <a:ln/>
        </p:spPr>
        <p:txBody>
          <a:bodyPr wrap="square" lIns="0" tIns="0" rIns="0" bIns="0" rtlCol="0" anchor="ctr"/>
          <a:lstStyle/>
          <a:p>
            <a:pPr indent="0" marL="0">
              <a:buNone/>
            </a:pPr>
            <a:r>
              <a:rPr lang="en-US" sz="1000" b="1" dirty="0">
                <a:solidFill>
                  <a:srgbClr val="8B99AB"/>
                </a:solidFill>
                <a:latin typeface="Meiryo" pitchFamily="34" charset="0"/>
                <a:ea typeface="Meiryo" pitchFamily="34" charset="-122"/>
                <a:cs typeface="Meiryo" pitchFamily="34" charset="-120"/>
              </a:rPr>
              <a:t>Hittatsu</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566928"/>
          </a:xfrm>
          <a:prstGeom prst="rect">
            <a:avLst/>
          </a:prstGeom>
          <a:noFill/>
          <a:ln/>
        </p:spPr>
        <p:txBody>
          <a:bodyPr wrap="square" lIns="0" tIns="0" rIns="0" bIns="0" rtlCol="0" anchor="ctr"/>
          <a:lstStyle/>
          <a:p>
            <a:pPr indent="0" marL="0">
              <a:buNone/>
            </a:pPr>
            <a:r>
              <a:rPr lang="en-US" sz="3000" b="1" dirty="0">
                <a:solidFill>
                  <a:srgbClr val="0C2340"/>
                </a:solidFill>
                <a:latin typeface="Meiryo" pitchFamily="34" charset="0"/>
                <a:ea typeface="Meiryo" pitchFamily="34" charset="-122"/>
                <a:cs typeface="Meiryo" pitchFamily="34" charset="-120"/>
              </a:rPr>
              <a:t>他の管理方法との比較</a:t>
            </a:r>
            <a:endParaRPr lang="en-US" sz="3000" dirty="0"/>
          </a:p>
        </p:txBody>
      </p:sp>
      <p:sp>
        <p:nvSpPr>
          <p:cNvPr id="3" name="Text 1"/>
          <p:cNvSpPr txBox="1"/>
          <p:nvPr/>
        </p:nvSpPr>
        <p:spPr>
          <a:xfrm>
            <a:off x="640080" y="1078992"/>
            <a:ext cx="10911535" cy="329184"/>
          </a:xfrm>
          <a:prstGeom prst="rect">
            <a:avLst/>
          </a:prstGeom>
          <a:noFill/>
          <a:ln/>
        </p:spPr>
        <p:txBody>
          <a:bodyPr wrap="square" lIns="0" tIns="0" rIns="0" bIns="0" rtlCol="0" anchor="ctr"/>
          <a:lstStyle/>
          <a:p>
            <a:pPr indent="0" marL="0">
              <a:buNone/>
            </a:pPr>
            <a:r>
              <a:rPr lang="en-US" sz="1300" dirty="0">
                <a:solidFill>
                  <a:srgbClr val="5A6B80"/>
                </a:solidFill>
                <a:latin typeface="Meiryo" pitchFamily="34" charset="0"/>
                <a:ea typeface="Meiryo" pitchFamily="34" charset="-122"/>
                <a:cs typeface="Meiryo" pitchFamily="34" charset="-120"/>
              </a:rPr>
              <a:t>表スライドの型</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2651760"/>
                <a:gridCol w="2743200"/>
                <a:gridCol w="2862072"/>
                <a:gridCol w="2651760"/>
              </a:tblGrid>
              <a:tr h="502920">
                <a:tc>
                  <a:txBody>
                    <a:bodyPr/>
                    <a:lstStyle/>
                    <a:p>
                      <a:pPr algn="l" indent="0" marL="0">
                        <a:buNone/>
                      </a:pPr>
                      <a:endParaRPr lang="en-US" sz="125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EEF3FA"/>
                    </a:solidFill>
                  </a:tcPr>
                </a:tc>
                <a:tc>
                  <a:txBody>
                    <a:bodyPr/>
                    <a:lstStyle/>
                    <a:p>
                      <a:pPr algn="ctr" indent="0" marL="0">
                        <a:buNone/>
                      </a:pPr>
                      <a:r>
                        <a:rPr lang="en-US" sz="1250" b="1" dirty="0">
                          <a:solidFill>
                            <a:srgbClr val="10305A"/>
                          </a:solidFill>
                          <a:latin typeface="Meiryo" pitchFamily="34" charset="0"/>
                          <a:ea typeface="Meiryo" pitchFamily="34" charset="-122"/>
                          <a:cs typeface="Meiryo" pitchFamily="34" charset="-120"/>
                        </a:rPr>
                        <a:t>表計算ソフト</a:t>
                      </a:r>
                      <a:endParaRPr lang="en-US" sz="125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EEF3FA"/>
                    </a:solidFill>
                  </a:tcPr>
                </a:tc>
                <a:tc>
                  <a:txBody>
                    <a:bodyPr/>
                    <a:lstStyle/>
                    <a:p>
                      <a:pPr algn="ctr" indent="0" marL="0">
                        <a:buNone/>
                      </a:pPr>
                      <a:r>
                        <a:rPr lang="en-US" sz="1250" b="1" dirty="0">
                          <a:solidFill>
                            <a:srgbClr val="10305A"/>
                          </a:solidFill>
                          <a:latin typeface="Meiryo" pitchFamily="34" charset="0"/>
                          <a:ea typeface="Meiryo" pitchFamily="34" charset="-122"/>
                          <a:cs typeface="Meiryo" pitchFamily="34" charset="-120"/>
                        </a:rPr>
                        <a:t>汎用タスク管理ツール</a:t>
                      </a:r>
                      <a:endParaRPr lang="en-US" sz="125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EEF3FA"/>
                    </a:solidFill>
                  </a:tcPr>
                </a:tc>
                <a:tc>
                  <a:txBody>
                    <a:bodyPr/>
                    <a:lstStyle/>
                    <a:p>
                      <a:pPr algn="ctr" indent="0" marL="0">
                        <a:buNone/>
                      </a:pPr>
                      <a:r>
                        <a:rPr lang="en-US" sz="1250" b="1" dirty="0">
                          <a:solidFill>
                            <a:srgbClr val="FFFFFF"/>
                          </a:solidFill>
                          <a:latin typeface="Meiryo" pitchFamily="34" charset="0"/>
                          <a:ea typeface="Meiryo" pitchFamily="34" charset="-122"/>
                          <a:cs typeface="Meiryo" pitchFamily="34" charset="-120"/>
                        </a:rPr>
                        <a:t>Hittatsu</a:t>
                      </a:r>
                      <a:endParaRPr lang="en-US" sz="125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1C5CAB"/>
                    </a:solidFill>
                  </a:tcPr>
                </a:tc>
              </a:tr>
              <a:tr h="658368">
                <a:tc>
                  <a:txBody>
                    <a:bodyPr/>
                    <a:lstStyle/>
                    <a:p>
                      <a:pPr algn="l" indent="0" marL="0">
                        <a:buNone/>
                      </a:pPr>
                      <a:r>
                        <a:rPr lang="en-US" sz="1200" b="1" dirty="0">
                          <a:solidFill>
                            <a:srgbClr val="0C2340"/>
                          </a:solidFill>
                          <a:latin typeface="Meiryo" pitchFamily="34" charset="0"/>
                          <a:ea typeface="Meiryo" pitchFamily="34" charset="-122"/>
                          <a:cs typeface="Meiryo" pitchFamily="34" charset="-120"/>
                        </a:rPr>
                        <a:t>進捗の自動集計</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B80"/>
                          </a:solidFill>
                          <a:latin typeface="Meiryo" pitchFamily="34" charset="0"/>
                          <a:ea typeface="Meiryo" pitchFamily="34" charset="-122"/>
                          <a:cs typeface="Meiryo" pitchFamily="34" charset="-120"/>
                        </a:rPr>
                        <a:t>手作業で集計</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B80"/>
                          </a:solidFill>
                          <a:latin typeface="Meiryo" pitchFamily="34" charset="0"/>
                          <a:ea typeface="Meiryo" pitchFamily="34" charset="-122"/>
                          <a:cs typeface="Meiryo" pitchFamily="34" charset="-120"/>
                        </a:rPr>
                        <a:t>ツールにより可</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406E"/>
                          </a:solidFill>
                          <a:latin typeface="Meiryo" pitchFamily="34" charset="0"/>
                          <a:ea typeface="Meiryo" pitchFamily="34" charset="-122"/>
                          <a:cs typeface="Meiryo" pitchFamily="34" charset="-120"/>
                        </a:rPr>
                        <a:t>下位タスクから自動算出</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EEF3FA"/>
                    </a:solidFill>
                  </a:tcPr>
                </a:tc>
              </a:tr>
              <a:tr h="658368">
                <a:tc>
                  <a:txBody>
                    <a:bodyPr/>
                    <a:lstStyle/>
                    <a:p>
                      <a:pPr algn="l" indent="0" marL="0">
                        <a:buNone/>
                      </a:pPr>
                      <a:r>
                        <a:rPr lang="en-US" sz="1200" b="1" dirty="0">
                          <a:solidFill>
                            <a:srgbClr val="0C2340"/>
                          </a:solidFill>
                          <a:latin typeface="Meiryo" pitchFamily="34" charset="0"/>
                          <a:ea typeface="Meiryo" pitchFamily="34" charset="-122"/>
                          <a:cs typeface="Meiryo" pitchFamily="34" charset="-120"/>
                        </a:rPr>
                        <a:t>導入のしやすさ</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B80"/>
                          </a:solidFill>
                          <a:latin typeface="Meiryo" pitchFamily="34" charset="0"/>
                          <a:ea typeface="Meiryo" pitchFamily="34" charset="-122"/>
                          <a:cs typeface="Meiryo" pitchFamily="34" charset="-120"/>
                        </a:rPr>
                        <a:t>すぐ始められる</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B80"/>
                          </a:solidFill>
                          <a:latin typeface="Meiryo" pitchFamily="34" charset="0"/>
                          <a:ea typeface="Meiryo" pitchFamily="34" charset="-122"/>
                          <a:cs typeface="Meiryo" pitchFamily="34" charset="-120"/>
                        </a:rPr>
                        <a:t>設定項目が多い</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406E"/>
                          </a:solidFill>
                          <a:latin typeface="Meiryo" pitchFamily="34" charset="0"/>
                          <a:ea typeface="Meiryo" pitchFamily="34" charset="-122"/>
                          <a:cs typeface="Meiryo" pitchFamily="34" charset="-120"/>
                        </a:rPr>
                        <a:t>Googleログインのみ</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EEF3FA"/>
                    </a:solidFill>
                  </a:tcPr>
                </a:tc>
              </a:tr>
              <a:tr h="658368">
                <a:tc>
                  <a:txBody>
                    <a:bodyPr/>
                    <a:lstStyle/>
                    <a:p>
                      <a:pPr algn="l" indent="0" marL="0">
                        <a:buNone/>
                      </a:pPr>
                      <a:r>
                        <a:rPr lang="en-US" sz="1200" b="1" dirty="0">
                          <a:solidFill>
                            <a:srgbClr val="0C2340"/>
                          </a:solidFill>
                          <a:latin typeface="Meiryo" pitchFamily="34" charset="0"/>
                          <a:ea typeface="Meiryo" pitchFamily="34" charset="-122"/>
                          <a:cs typeface="Meiryo" pitchFamily="34" charset="-120"/>
                        </a:rPr>
                        <a:t>カレンダー連携</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B80"/>
                          </a:solidFill>
                          <a:latin typeface="Meiryo" pitchFamily="34" charset="0"/>
                          <a:ea typeface="Meiryo" pitchFamily="34" charset="-122"/>
                          <a:cs typeface="Meiryo" pitchFamily="34" charset="-120"/>
                        </a:rPr>
                        <a:t>なし</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B80"/>
                          </a:solidFill>
                          <a:latin typeface="Meiryo" pitchFamily="34" charset="0"/>
                          <a:ea typeface="Meiryo" pitchFamily="34" charset="-122"/>
                          <a:cs typeface="Meiryo" pitchFamily="34" charset="-120"/>
                        </a:rPr>
                        <a:t>別途設定が必要</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406E"/>
                          </a:solidFill>
                          <a:latin typeface="Meiryo" pitchFamily="34" charset="0"/>
                          <a:ea typeface="Meiryo" pitchFamily="34" charset="-122"/>
                          <a:cs typeface="Meiryo" pitchFamily="34" charset="-120"/>
                        </a:rPr>
                        <a:t>標準対応</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EEF3FA"/>
                    </a:solidFill>
                  </a:tcPr>
                </a:tc>
              </a:tr>
              <a:tr h="658368">
                <a:tc>
                  <a:txBody>
                    <a:bodyPr/>
                    <a:lstStyle/>
                    <a:p>
                      <a:pPr algn="l" indent="0" marL="0">
                        <a:buNone/>
                      </a:pPr>
                      <a:r>
                        <a:rPr lang="en-US" sz="1200" b="1" dirty="0">
                          <a:solidFill>
                            <a:srgbClr val="0C2340"/>
                          </a:solidFill>
                          <a:latin typeface="Meiryo" pitchFamily="34" charset="0"/>
                          <a:ea typeface="Meiryo" pitchFamily="34" charset="-122"/>
                          <a:cs typeface="Meiryo" pitchFamily="34" charset="-120"/>
                        </a:rPr>
                        <a:t>週次の振り返り</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B80"/>
                          </a:solidFill>
                          <a:latin typeface="Meiryo" pitchFamily="34" charset="0"/>
                          <a:ea typeface="Meiryo" pitchFamily="34" charset="-122"/>
                          <a:cs typeface="Meiryo" pitchFamily="34" charset="-120"/>
                        </a:rPr>
                        <a:t>別ファイルで管理</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B80"/>
                          </a:solidFill>
                          <a:latin typeface="Meiryo" pitchFamily="34" charset="0"/>
                          <a:ea typeface="Meiryo" pitchFamily="34" charset="-122"/>
                          <a:cs typeface="Meiryo" pitchFamily="34" charset="-120"/>
                        </a:rPr>
                        <a:t>別機能で管理</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406E"/>
                          </a:solidFill>
                          <a:latin typeface="Meiryo" pitchFamily="34" charset="0"/>
                          <a:ea typeface="Meiryo" pitchFamily="34" charset="-122"/>
                          <a:cs typeface="Meiryo" pitchFamily="34" charset="-120"/>
                        </a:rPr>
                        <a:t>KPT週報を標準搭載</a:t>
                      </a:r>
                      <a:endParaRPr lang="en-US" sz="1200" dirty="0">
                        <a:latin typeface="Meiryo" charset="0"/>
                        <a:ea typeface="Meiryo" charset="0"/>
                        <a:cs typeface="Meiryo" charset="0"/>
                      </a:endParaRPr>
                    </a:p>
                  </a:txBody>
                  <a:tcPr marL="101600" marR="101600" marT="101600" marB="101600" anchor="ctr">
                    <a:lnL w="12700" cap="flat" cmpd="sng" algn="ctr">
                      <a:solidFill>
                        <a:srgbClr val="E3E9F0"/>
                      </a:solidFill>
                      <a:prstDash val="solid"/>
                      <a:round/>
                      <a:headEnd type="none" w="med" len="med"/>
                      <a:tailEnd type="none" w="med" len="med"/>
                    </a:lnL>
                    <a:lnR w="12700" cap="flat" cmpd="sng" algn="ctr">
                      <a:solidFill>
                        <a:srgbClr val="E3E9F0"/>
                      </a:solidFill>
                      <a:prstDash val="solid"/>
                      <a:round/>
                      <a:headEnd type="none" w="med" len="med"/>
                      <a:tailEnd type="none" w="med" len="med"/>
                    </a:lnR>
                    <a:lnT w="12700" cap="flat" cmpd="sng" algn="ctr">
                      <a:solidFill>
                        <a:srgbClr val="E3E9F0"/>
                      </a:solidFill>
                      <a:prstDash val="solid"/>
                      <a:round/>
                      <a:headEnd type="none" w="med" len="med"/>
                      <a:tailEnd type="none" w="med" len="med"/>
                    </a:lnT>
                    <a:lnB w="12700" cap="flat" cmpd="sng" algn="ctr">
                      <a:solidFill>
                        <a:srgbClr val="E3E9F0"/>
                      </a:solidFill>
                      <a:prstDash val="solid"/>
                      <a:round/>
                      <a:headEnd type="none" w="med" len="med"/>
                      <a:tailEnd type="none" w="med" len="med"/>
                    </a:lnB>
                    <a:solidFill>
                      <a:srgbClr val="EEF3FA"/>
                    </a:solidFill>
                  </a:tcPr>
                </a:tc>
              </a:tr>
            </a:tbl>
          </a:graphicData>
        </a:graphic>
      </p:graphicFrame>
      <p:sp>
        <p:nvSpPr>
          <p:cNvPr id="5" name="Text 2"/>
          <p:cNvSpPr txBox="1"/>
          <p:nvPr/>
        </p:nvSpPr>
        <p:spPr>
          <a:xfrm>
            <a:off x="640080" y="5349240"/>
            <a:ext cx="10911535" cy="320040"/>
          </a:xfrm>
          <a:prstGeom prst="rect">
            <a:avLst/>
          </a:prstGeom>
          <a:noFill/>
          <a:ln/>
        </p:spPr>
        <p:txBody>
          <a:bodyPr wrap="square" lIns="0" tIns="0" rIns="0" bIns="0" rtlCol="0" anchor="ctr"/>
          <a:lstStyle/>
          <a:p>
            <a:pPr indent="0" marL="0">
              <a:buNone/>
            </a:pPr>
            <a:r>
              <a:rPr lang="en-US" sz="1100" dirty="0">
                <a:solidFill>
                  <a:srgbClr val="5A6B80"/>
                </a:solidFill>
                <a:latin typeface="Meiryo" pitchFamily="34" charset="0"/>
                <a:ea typeface="Meiryo" pitchFamily="34" charset="-122"/>
                <a:cs typeface="Meiryo" pitchFamily="34" charset="-120"/>
              </a:rPr>
              <a:t>※ 比較内容は自社調べです。他社製品の仕様は変更される場合があります。</a:t>
            </a:r>
            <a:endParaRPr lang="en-US" sz="1100" dirty="0"/>
          </a:p>
        </p:txBody>
      </p:sp>
      <p:sp>
        <p:nvSpPr>
          <p:cNvPr id="6" name="Text 3"/>
          <p:cNvSpPr txBox="1"/>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8B99AB"/>
                </a:solidFill>
                <a:latin typeface="Meiryo" pitchFamily="34" charset="0"/>
                <a:ea typeface="Meiryo" pitchFamily="34" charset="-122"/>
                <a:cs typeface="Meiryo" pitchFamily="34" charset="-120"/>
              </a:rPr>
              <a:t>11</a:t>
            </a:r>
            <a:endParaRPr lang="en-US" sz="1000" dirty="0"/>
          </a:p>
        </p:txBody>
      </p:sp>
      <p:sp>
        <p:nvSpPr>
          <p:cNvPr id="7" name="Text 4"/>
          <p:cNvSpPr txBox="1"/>
          <p:nvPr/>
        </p:nvSpPr>
        <p:spPr>
          <a:xfrm>
            <a:off x="640080" y="6291072"/>
            <a:ext cx="1828800" cy="274320"/>
          </a:xfrm>
          <a:prstGeom prst="rect">
            <a:avLst/>
          </a:prstGeom>
          <a:noFill/>
          <a:ln/>
        </p:spPr>
        <p:txBody>
          <a:bodyPr wrap="square" lIns="0" tIns="0" rIns="0" bIns="0" rtlCol="0" anchor="ctr"/>
          <a:lstStyle/>
          <a:p>
            <a:pPr indent="0" marL="0">
              <a:buNone/>
            </a:pPr>
            <a:r>
              <a:rPr lang="en-US" sz="1000" b="1" dirty="0">
                <a:solidFill>
                  <a:srgbClr val="8B99AB"/>
                </a:solidFill>
                <a:latin typeface="Meiryo" pitchFamily="34" charset="0"/>
                <a:ea typeface="Meiryo" pitchFamily="34" charset="-122"/>
                <a:cs typeface="Meiryo" pitchFamily="34" charset="-120"/>
              </a:rPr>
              <a:t>Hittatsu</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566928"/>
          </a:xfrm>
          <a:prstGeom prst="rect">
            <a:avLst/>
          </a:prstGeom>
          <a:noFill/>
          <a:ln/>
        </p:spPr>
        <p:txBody>
          <a:bodyPr wrap="square" lIns="0" tIns="0" rIns="0" bIns="0" rtlCol="0" anchor="ctr"/>
          <a:lstStyle/>
          <a:p>
            <a:pPr indent="0" marL="0">
              <a:buNone/>
            </a:pPr>
            <a:r>
              <a:rPr lang="en-US" sz="3000" b="1" dirty="0">
                <a:solidFill>
                  <a:srgbClr val="0C2340"/>
                </a:solidFill>
                <a:latin typeface="Meiryo" pitchFamily="34" charset="0"/>
                <a:ea typeface="Meiryo" pitchFamily="34" charset="-122"/>
                <a:cs typeface="Meiryo" pitchFamily="34" charset="-120"/>
              </a:rPr>
              <a:t>ご利用いただいている現場から</a:t>
            </a:r>
            <a:endParaRPr lang="en-US" sz="3000" dirty="0"/>
          </a:p>
        </p:txBody>
      </p:sp>
      <p:sp>
        <p:nvSpPr>
          <p:cNvPr id="3" name="Text 1"/>
          <p:cNvSpPr txBox="1"/>
          <p:nvPr/>
        </p:nvSpPr>
        <p:spPr>
          <a:xfrm>
            <a:off x="640080" y="1078992"/>
            <a:ext cx="10911535" cy="329184"/>
          </a:xfrm>
          <a:prstGeom prst="rect">
            <a:avLst/>
          </a:prstGeom>
          <a:noFill/>
          <a:ln/>
        </p:spPr>
        <p:txBody>
          <a:bodyPr wrap="square" lIns="0" tIns="0" rIns="0" bIns="0" rtlCol="0" anchor="ctr"/>
          <a:lstStyle/>
          <a:p>
            <a:pPr indent="0" marL="0">
              <a:buNone/>
            </a:pPr>
            <a:r>
              <a:rPr lang="en-US" sz="1300" dirty="0">
                <a:solidFill>
                  <a:srgbClr val="5A6B80"/>
                </a:solidFill>
                <a:latin typeface="Meiryo" pitchFamily="34" charset="0"/>
                <a:ea typeface="Meiryo" pitchFamily="34" charset="-122"/>
                <a:cs typeface="Meiryo" pitchFamily="34" charset="-120"/>
              </a:rPr>
              <a:t>引用スライドの型</a:t>
            </a:r>
            <a:endParaRPr lang="en-US" sz="1300" dirty="0"/>
          </a:p>
        </p:txBody>
      </p:sp>
      <p:sp>
        <p:nvSpPr>
          <p:cNvPr id="4" name="Shape 2"/>
          <p:cNvSpPr/>
          <p:nvPr/>
        </p:nvSpPr>
        <p:spPr>
          <a:xfrm>
            <a:off x="640080" y="2011680"/>
            <a:ext cx="10911535" cy="2286000"/>
          </a:xfrm>
          <a:prstGeom prst="roundRect">
            <a:avLst>
              <a:gd name="adj" fmla="val 4800"/>
            </a:avLst>
          </a:prstGeom>
          <a:solidFill>
            <a:srgbClr val="EEF3FA"/>
          </a:solidFill>
          <a:ln w="12700">
            <a:solidFill>
              <a:srgbClr val="DBE7F5"/>
            </a:solidFill>
            <a:prstDash val="solid"/>
          </a:ln>
        </p:spPr>
      </p:sp>
      <p:sp>
        <p:nvSpPr>
          <p:cNvPr id="5" name="Text 3"/>
          <p:cNvSpPr txBox="1"/>
          <p:nvPr/>
        </p:nvSpPr>
        <p:spPr>
          <a:xfrm>
            <a:off x="1280160" y="2286000"/>
            <a:ext cx="9631375" cy="1188720"/>
          </a:xfrm>
          <a:prstGeom prst="rect">
            <a:avLst/>
          </a:prstGeom>
          <a:noFill/>
          <a:ln/>
        </p:spPr>
        <p:txBody>
          <a:bodyPr wrap="square" lIns="0" tIns="0" rIns="0" bIns="0" rtlCol="0" anchor="ctr"/>
          <a:lstStyle/>
          <a:p>
            <a:pPr indent="0" marL="0">
              <a:lnSpc>
                <a:spcPts val="3600"/>
              </a:lnSpc>
              <a:buNone/>
            </a:pPr>
            <a:r>
              <a:rPr lang="en-US" sz="2100" b="1" dirty="0">
                <a:solidFill>
                  <a:srgbClr val="0C2340"/>
                </a:solidFill>
                <a:latin typeface="Meiryo" pitchFamily="34" charset="0"/>
                <a:ea typeface="Meiryo" pitchFamily="34" charset="-122"/>
                <a:cs typeface="Meiryo" pitchFamily="34" charset="-120"/>
              </a:rPr>
              <a:t>“ 朝会が15分で終わるようになりました。</a:t>
            </a:r>
            <a:endParaRPr lang="en-US" sz="2100" dirty="0"/>
          </a:p>
          <a:p>
            <a:pPr indent="0" marL="0">
              <a:lnSpc>
                <a:spcPts val="3600"/>
              </a:lnSpc>
              <a:buNone/>
            </a:pPr>
            <a:r>
              <a:rPr lang="en-US" sz="2100" b="1" dirty="0">
                <a:solidFill>
                  <a:srgbClr val="0C2340"/>
                </a:solidFill>
                <a:latin typeface="Meiryo" pitchFamily="34" charset="0"/>
                <a:ea typeface="Meiryo" pitchFamily="34" charset="-122"/>
                <a:cs typeface="Meiryo" pitchFamily="34" charset="-120"/>
              </a:rPr>
              <a:t>　 「今どこまで?」を聞かなくてよくなったのが一番大きいです。 ”</a:t>
            </a:r>
            <a:endParaRPr lang="en-US" sz="2100" dirty="0"/>
          </a:p>
        </p:txBody>
      </p:sp>
      <p:sp>
        <p:nvSpPr>
          <p:cNvPr id="6" name="Text 4"/>
          <p:cNvSpPr txBox="1"/>
          <p:nvPr/>
        </p:nvSpPr>
        <p:spPr>
          <a:xfrm>
            <a:off x="1280160" y="3611880"/>
            <a:ext cx="9631375" cy="365760"/>
          </a:xfrm>
          <a:prstGeom prst="rect">
            <a:avLst/>
          </a:prstGeom>
          <a:noFill/>
          <a:ln/>
        </p:spPr>
        <p:txBody>
          <a:bodyPr wrap="square" lIns="0" tIns="0" rIns="0" bIns="0" rtlCol="0" anchor="ctr"/>
          <a:lstStyle/>
          <a:p>
            <a:pPr indent="0" marL="0">
              <a:buNone/>
            </a:pPr>
            <a:r>
              <a:rPr lang="en-US" sz="1300" dirty="0">
                <a:solidFill>
                  <a:srgbClr val="5A6B80"/>
                </a:solidFill>
                <a:latin typeface="Meiryo" pitchFamily="34" charset="0"/>
                <a:ea typeface="Meiryo" pitchFamily="34" charset="-122"/>
                <a:cs typeface="Meiryo" pitchFamily="34" charset="-120"/>
              </a:rPr>
              <a:t>製造業／生産技術部 マネージャー（従業員00名）</a:t>
            </a:r>
            <a:endParaRPr lang="en-US" sz="1300" dirty="0"/>
          </a:p>
        </p:txBody>
      </p:sp>
      <p:sp>
        <p:nvSpPr>
          <p:cNvPr id="7" name="Shape 5"/>
          <p:cNvSpPr/>
          <p:nvPr/>
        </p:nvSpPr>
        <p:spPr>
          <a:xfrm>
            <a:off x="640080" y="4526280"/>
            <a:ext cx="3454298" cy="960120"/>
          </a:xfrm>
          <a:prstGeom prst="roundRect">
            <a:avLst>
              <a:gd name="adj" fmla="val 11429"/>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8" name="Text 6"/>
          <p:cNvSpPr txBox="1"/>
          <p:nvPr/>
        </p:nvSpPr>
        <p:spPr>
          <a:xfrm>
            <a:off x="822960" y="4617720"/>
            <a:ext cx="3088538" cy="274320"/>
          </a:xfrm>
          <a:prstGeom prst="rect">
            <a:avLst/>
          </a:prstGeom>
          <a:noFill/>
          <a:ln/>
        </p:spPr>
        <p:txBody>
          <a:bodyPr wrap="square" lIns="0" tIns="0" rIns="0" bIns="0" rtlCol="0" anchor="ctr"/>
          <a:lstStyle/>
          <a:p>
            <a:pPr algn="ctr" indent="0" marL="0">
              <a:buNone/>
            </a:pPr>
            <a:r>
              <a:rPr lang="en-US" sz="1050" b="1" dirty="0">
                <a:solidFill>
                  <a:srgbClr val="5A6B80"/>
                </a:solidFill>
                <a:latin typeface="Meiryo" pitchFamily="34" charset="0"/>
                <a:ea typeface="Meiryo" pitchFamily="34" charset="-122"/>
                <a:cs typeface="Meiryo" pitchFamily="34" charset="-120"/>
              </a:rPr>
              <a:t>定着率</a:t>
            </a:r>
            <a:endParaRPr lang="en-US" sz="1050" dirty="0"/>
          </a:p>
        </p:txBody>
      </p:sp>
      <p:sp>
        <p:nvSpPr>
          <p:cNvPr id="9" name="Text 7"/>
          <p:cNvSpPr txBox="1"/>
          <p:nvPr/>
        </p:nvSpPr>
        <p:spPr>
          <a:xfrm>
            <a:off x="822960" y="4892040"/>
            <a:ext cx="3088538" cy="502920"/>
          </a:xfrm>
          <a:prstGeom prst="rect">
            <a:avLst/>
          </a:prstGeom>
          <a:noFill/>
          <a:ln/>
        </p:spPr>
        <p:txBody>
          <a:bodyPr wrap="square" lIns="0" tIns="0" rIns="0" bIns="0" rtlCol="0" anchor="ctr"/>
          <a:lstStyle/>
          <a:p>
            <a:pPr algn="ctr" indent="0" marL="0">
              <a:buNone/>
            </a:pPr>
            <a:r>
              <a:rPr lang="en-US" sz="2200" b="1" dirty="0">
                <a:solidFill>
                  <a:srgbClr val="0C2340"/>
                </a:solidFill>
                <a:latin typeface="Meiryo" pitchFamily="34" charset="0"/>
                <a:ea typeface="Meiryo" pitchFamily="34" charset="-122"/>
                <a:cs typeface="Meiryo" pitchFamily="34" charset="-120"/>
              </a:rPr>
              <a:t>00%</a:t>
            </a:r>
            <a:endParaRPr lang="en-US" sz="2200" dirty="0"/>
          </a:p>
        </p:txBody>
      </p:sp>
      <p:sp>
        <p:nvSpPr>
          <p:cNvPr id="10" name="Shape 8"/>
          <p:cNvSpPr/>
          <p:nvPr/>
        </p:nvSpPr>
        <p:spPr>
          <a:xfrm>
            <a:off x="4368698" y="4526280"/>
            <a:ext cx="3454298" cy="960120"/>
          </a:xfrm>
          <a:prstGeom prst="roundRect">
            <a:avLst>
              <a:gd name="adj" fmla="val 11429"/>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1" name="Text 9"/>
          <p:cNvSpPr txBox="1"/>
          <p:nvPr/>
        </p:nvSpPr>
        <p:spPr>
          <a:xfrm>
            <a:off x="4551578" y="4617720"/>
            <a:ext cx="3088538" cy="274320"/>
          </a:xfrm>
          <a:prstGeom prst="rect">
            <a:avLst/>
          </a:prstGeom>
          <a:noFill/>
          <a:ln/>
        </p:spPr>
        <p:txBody>
          <a:bodyPr wrap="square" lIns="0" tIns="0" rIns="0" bIns="0" rtlCol="0" anchor="ctr"/>
          <a:lstStyle/>
          <a:p>
            <a:pPr algn="ctr" indent="0" marL="0">
              <a:buNone/>
            </a:pPr>
            <a:r>
              <a:rPr lang="en-US" sz="1050" b="1" dirty="0">
                <a:solidFill>
                  <a:srgbClr val="5A6B80"/>
                </a:solidFill>
                <a:latin typeface="Meiryo" pitchFamily="34" charset="0"/>
                <a:ea typeface="Meiryo" pitchFamily="34" charset="-122"/>
                <a:cs typeface="Meiryo" pitchFamily="34" charset="-120"/>
              </a:rPr>
              <a:t>会議時間</a:t>
            </a:r>
            <a:endParaRPr lang="en-US" sz="1050" dirty="0"/>
          </a:p>
        </p:txBody>
      </p:sp>
      <p:sp>
        <p:nvSpPr>
          <p:cNvPr id="12" name="Text 10"/>
          <p:cNvSpPr txBox="1"/>
          <p:nvPr/>
        </p:nvSpPr>
        <p:spPr>
          <a:xfrm>
            <a:off x="4551578" y="4892040"/>
            <a:ext cx="3088538" cy="502920"/>
          </a:xfrm>
          <a:prstGeom prst="rect">
            <a:avLst/>
          </a:prstGeom>
          <a:noFill/>
          <a:ln/>
        </p:spPr>
        <p:txBody>
          <a:bodyPr wrap="square" lIns="0" tIns="0" rIns="0" bIns="0" rtlCol="0" anchor="ctr"/>
          <a:lstStyle/>
          <a:p>
            <a:pPr algn="ctr" indent="0" marL="0">
              <a:buNone/>
            </a:pPr>
            <a:r>
              <a:rPr lang="en-US" sz="2200" b="1" dirty="0">
                <a:solidFill>
                  <a:srgbClr val="0C2340"/>
                </a:solidFill>
                <a:latin typeface="Meiryo" pitchFamily="34" charset="0"/>
                <a:ea typeface="Meiryo" pitchFamily="34" charset="-122"/>
                <a:cs typeface="Meiryo" pitchFamily="34" charset="-120"/>
              </a:rPr>
              <a:t>-00分/週</a:t>
            </a:r>
            <a:endParaRPr lang="en-US" sz="2200" dirty="0"/>
          </a:p>
        </p:txBody>
      </p:sp>
      <p:sp>
        <p:nvSpPr>
          <p:cNvPr id="13" name="Shape 11"/>
          <p:cNvSpPr/>
          <p:nvPr/>
        </p:nvSpPr>
        <p:spPr>
          <a:xfrm>
            <a:off x="8097317" y="4526280"/>
            <a:ext cx="3454298" cy="960120"/>
          </a:xfrm>
          <a:prstGeom prst="roundRect">
            <a:avLst>
              <a:gd name="adj" fmla="val 11429"/>
            </a:avLst>
          </a:prstGeom>
          <a:solidFill>
            <a:srgbClr val="FFFFFF"/>
          </a:solidFill>
          <a:ln w="12700">
            <a:solidFill>
              <a:srgbClr val="E3E9F0"/>
            </a:solidFill>
            <a:prstDash val="solid"/>
          </a:ln>
          <a:effectLst>
            <a:outerShdw sx="100000" sy="100000" kx="0" ky="0" algn="bl" rotWithShape="0" blurRad="177800" dist="38100" dir="5400000">
              <a:srgbClr val="0C2340">
                <a:alpha val="10000"/>
              </a:srgbClr>
            </a:outerShdw>
          </a:effectLst>
        </p:spPr>
      </p:sp>
      <p:sp>
        <p:nvSpPr>
          <p:cNvPr id="14" name="Text 12"/>
          <p:cNvSpPr txBox="1"/>
          <p:nvPr/>
        </p:nvSpPr>
        <p:spPr>
          <a:xfrm>
            <a:off x="8280197" y="4617720"/>
            <a:ext cx="3088538" cy="274320"/>
          </a:xfrm>
          <a:prstGeom prst="rect">
            <a:avLst/>
          </a:prstGeom>
          <a:noFill/>
          <a:ln/>
        </p:spPr>
        <p:txBody>
          <a:bodyPr wrap="square" lIns="0" tIns="0" rIns="0" bIns="0" rtlCol="0" anchor="ctr"/>
          <a:lstStyle/>
          <a:p>
            <a:pPr algn="ctr" indent="0" marL="0">
              <a:buNone/>
            </a:pPr>
            <a:r>
              <a:rPr lang="en-US" sz="1050" b="1" dirty="0">
                <a:solidFill>
                  <a:srgbClr val="5A6B80"/>
                </a:solidFill>
                <a:latin typeface="Meiryo" pitchFamily="34" charset="0"/>
                <a:ea typeface="Meiryo" pitchFamily="34" charset="-122"/>
                <a:cs typeface="Meiryo" pitchFamily="34" charset="-120"/>
              </a:rPr>
              <a:t>対象人数</a:t>
            </a:r>
            <a:endParaRPr lang="en-US" sz="1050" dirty="0"/>
          </a:p>
        </p:txBody>
      </p:sp>
      <p:sp>
        <p:nvSpPr>
          <p:cNvPr id="15" name="Text 13"/>
          <p:cNvSpPr txBox="1"/>
          <p:nvPr/>
        </p:nvSpPr>
        <p:spPr>
          <a:xfrm>
            <a:off x="8280197" y="4892040"/>
            <a:ext cx="3088538" cy="502920"/>
          </a:xfrm>
          <a:prstGeom prst="rect">
            <a:avLst/>
          </a:prstGeom>
          <a:noFill/>
          <a:ln/>
        </p:spPr>
        <p:txBody>
          <a:bodyPr wrap="square" lIns="0" tIns="0" rIns="0" bIns="0" rtlCol="0" anchor="ctr"/>
          <a:lstStyle/>
          <a:p>
            <a:pPr algn="ctr" indent="0" marL="0">
              <a:buNone/>
            </a:pPr>
            <a:r>
              <a:rPr lang="en-US" sz="2200" b="1" dirty="0">
                <a:solidFill>
                  <a:srgbClr val="0C2340"/>
                </a:solidFill>
                <a:latin typeface="Meiryo" pitchFamily="34" charset="0"/>
                <a:ea typeface="Meiryo" pitchFamily="34" charset="-122"/>
                <a:cs typeface="Meiryo" pitchFamily="34" charset="-120"/>
              </a:rPr>
              <a:t>00名</a:t>
            </a:r>
            <a:endParaRPr lang="en-US" sz="2200" dirty="0"/>
          </a:p>
        </p:txBody>
      </p:sp>
      <p:sp>
        <p:nvSpPr>
          <p:cNvPr id="16" name="Text 14"/>
          <p:cNvSpPr txBox="1"/>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8B99AB"/>
                </a:solidFill>
                <a:latin typeface="Meiryo" pitchFamily="34" charset="0"/>
                <a:ea typeface="Meiryo" pitchFamily="34" charset="-122"/>
                <a:cs typeface="Meiryo" pitchFamily="34" charset="-120"/>
              </a:rPr>
              <a:t>12</a:t>
            </a:r>
            <a:endParaRPr lang="en-US" sz="1000" dirty="0"/>
          </a:p>
        </p:txBody>
      </p:sp>
      <p:sp>
        <p:nvSpPr>
          <p:cNvPr id="17" name="Text 15"/>
          <p:cNvSpPr txBox="1"/>
          <p:nvPr/>
        </p:nvSpPr>
        <p:spPr>
          <a:xfrm>
            <a:off x="640080" y="6291072"/>
            <a:ext cx="1828800" cy="274320"/>
          </a:xfrm>
          <a:prstGeom prst="rect">
            <a:avLst/>
          </a:prstGeom>
          <a:noFill/>
          <a:ln/>
        </p:spPr>
        <p:txBody>
          <a:bodyPr wrap="square" lIns="0" tIns="0" rIns="0" bIns="0" rtlCol="0" anchor="ctr"/>
          <a:lstStyle/>
          <a:p>
            <a:pPr indent="0" marL="0">
              <a:buNone/>
            </a:pPr>
            <a:r>
              <a:rPr lang="en-US" sz="1000" b="1" dirty="0">
                <a:solidFill>
                  <a:srgbClr val="8B99AB"/>
                </a:solidFill>
                <a:latin typeface="Meiryo" pitchFamily="34" charset="0"/>
                <a:ea typeface="Meiryo" pitchFamily="34" charset="-122"/>
                <a:cs typeface="Meiryo" pitchFamily="34" charset="-120"/>
              </a:rPr>
              <a:t>Hittatsu</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まとめ</a:t>
            </a:r>
            <a:endParaRPr lang="en-US" sz="3000" dirty="0"/>
          </a:p>
        </p:txBody>
      </p:sp>
      <p:sp>
        <p:nvSpPr>
          <p:cNvPr id="3" name="Shape 1"/>
          <p:cNvSpPr/>
          <p:nvPr/>
        </p:nvSpPr>
        <p:spPr>
          <a:xfrm>
            <a:off x="640080" y="1828800"/>
            <a:ext cx="3454298" cy="2651760"/>
          </a:xfrm>
          <a:prstGeom prst="roundRect">
            <a:avLst>
              <a:gd name="adj" fmla="val 4138"/>
            </a:avLst>
          </a:prstGeom>
          <a:solidFill>
            <a:srgbClr val="132F55"/>
          </a:solidFill>
          <a:ln w="12700">
            <a:solidFill>
              <a:srgbClr val="1E4C82"/>
            </a:solidFill>
            <a:prstDash val="solid"/>
          </a:ln>
        </p:spPr>
      </p:sp>
      <p:sp>
        <p:nvSpPr>
          <p:cNvPr id="4" name="Shape 2"/>
          <p:cNvSpPr/>
          <p:nvPr/>
        </p:nvSpPr>
        <p:spPr>
          <a:xfrm>
            <a:off x="960120" y="2148840"/>
            <a:ext cx="658368" cy="658368"/>
          </a:xfrm>
          <a:prstGeom prst="ellipse">
            <a:avLst/>
          </a:prstGeom>
          <a:solidFill>
            <a:srgbClr val="2A78D6"/>
          </a:solidFill>
          <a:ln w="12700">
            <a:solidFill>
              <a:srgbClr val="2A78D6"/>
            </a:solidFill>
            <a:prstDash val="solid"/>
          </a:ln>
        </p:spPr>
      </p:sp>
      <p:pic>
        <p:nvPicPr>
          <p:cNvPr id="5" name="Image 0" descr="preencoded.png">    </p:cNvPr>
          <p:cNvPicPr>
            <a:picLocks noChangeAspect="1"/>
          </p:cNvPicPr>
          <p:nvPr/>
        </p:nvPicPr>
        <p:blipFill>
          <a:blip r:embed="rId1"/>
          <a:stretch>
            <a:fillRect/>
          </a:stretch>
        </p:blipFill>
        <p:spPr>
          <a:xfrm>
            <a:off x="1124712" y="2313432"/>
            <a:ext cx="329184" cy="329184"/>
          </a:xfrm>
          <a:prstGeom prst="rect">
            <a:avLst/>
          </a:prstGeom>
        </p:spPr>
      </p:pic>
      <p:sp>
        <p:nvSpPr>
          <p:cNvPr id="6" name="Text 3"/>
          <p:cNvSpPr txBox="1"/>
          <p:nvPr/>
        </p:nvSpPr>
        <p:spPr>
          <a:xfrm>
            <a:off x="960120" y="2971800"/>
            <a:ext cx="2814218" cy="45720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見える化</a:t>
            </a:r>
            <a:endParaRPr lang="en-US" sz="1900" dirty="0"/>
          </a:p>
        </p:txBody>
      </p:sp>
      <p:sp>
        <p:nvSpPr>
          <p:cNvPr id="7" name="Text 4"/>
          <p:cNvSpPr txBox="1"/>
          <p:nvPr/>
        </p:nvSpPr>
        <p:spPr>
          <a:xfrm>
            <a:off x="960120" y="3474720"/>
            <a:ext cx="2814218" cy="914400"/>
          </a:xfrm>
          <a:prstGeom prst="rect">
            <a:avLst/>
          </a:prstGeom>
          <a:noFill/>
          <a:ln/>
        </p:spPr>
        <p:txBody>
          <a:bodyPr wrap="square" lIns="0" tIns="0" rIns="0" bIns="0" rtlCol="0" anchor="ctr"/>
          <a:lstStyle/>
          <a:p>
            <a:pPr indent="0" marL="0">
              <a:lnSpc>
                <a:spcPts val="2000"/>
              </a:lnSpc>
              <a:buNone/>
            </a:pPr>
            <a:r>
              <a:rPr lang="en-US" sz="1250" dirty="0">
                <a:solidFill>
                  <a:srgbClr val="B7CBE6"/>
                </a:solidFill>
                <a:latin typeface="Meiryo" pitchFamily="34" charset="0"/>
                <a:ea typeface="Meiryo" pitchFamily="34" charset="-122"/>
                <a:cs typeface="Meiryo" pitchFamily="34" charset="-120"/>
              </a:rPr>
              <a:t>進捗・遅延・担当がひと目で分かり、確認のための会議が要らなくなります。</a:t>
            </a:r>
            <a:endParaRPr lang="en-US" sz="1250" dirty="0"/>
          </a:p>
        </p:txBody>
      </p:sp>
      <p:sp>
        <p:nvSpPr>
          <p:cNvPr id="8" name="Shape 5"/>
          <p:cNvSpPr/>
          <p:nvPr/>
        </p:nvSpPr>
        <p:spPr>
          <a:xfrm>
            <a:off x="4368698" y="1828800"/>
            <a:ext cx="3454298" cy="2651760"/>
          </a:xfrm>
          <a:prstGeom prst="roundRect">
            <a:avLst>
              <a:gd name="adj" fmla="val 4138"/>
            </a:avLst>
          </a:prstGeom>
          <a:solidFill>
            <a:srgbClr val="132F55"/>
          </a:solidFill>
          <a:ln w="12700">
            <a:solidFill>
              <a:srgbClr val="1E4C82"/>
            </a:solidFill>
            <a:prstDash val="solid"/>
          </a:ln>
        </p:spPr>
      </p:sp>
      <p:sp>
        <p:nvSpPr>
          <p:cNvPr id="9" name="Shape 6"/>
          <p:cNvSpPr/>
          <p:nvPr/>
        </p:nvSpPr>
        <p:spPr>
          <a:xfrm>
            <a:off x="4688738" y="2148840"/>
            <a:ext cx="658368" cy="658368"/>
          </a:xfrm>
          <a:prstGeom prst="ellipse">
            <a:avLst/>
          </a:prstGeom>
          <a:solidFill>
            <a:srgbClr val="2A78D6"/>
          </a:solidFill>
          <a:ln w="12700">
            <a:solidFill>
              <a:srgbClr val="2A78D6"/>
            </a:solidFill>
            <a:prstDash val="solid"/>
          </a:ln>
        </p:spPr>
      </p:sp>
      <p:pic>
        <p:nvPicPr>
          <p:cNvPr id="10" name="Image 1" descr="preencoded.png">    </p:cNvPr>
          <p:cNvPicPr>
            <a:picLocks noChangeAspect="1"/>
          </p:cNvPicPr>
          <p:nvPr/>
        </p:nvPicPr>
        <p:blipFill>
          <a:blip r:embed="rId2"/>
          <a:stretch>
            <a:fillRect/>
          </a:stretch>
        </p:blipFill>
        <p:spPr>
          <a:xfrm>
            <a:off x="4853330" y="2313432"/>
            <a:ext cx="329184" cy="329184"/>
          </a:xfrm>
          <a:prstGeom prst="rect">
            <a:avLst/>
          </a:prstGeom>
        </p:spPr>
      </p:pic>
      <p:sp>
        <p:nvSpPr>
          <p:cNvPr id="11" name="Text 7"/>
          <p:cNvSpPr txBox="1"/>
          <p:nvPr/>
        </p:nvSpPr>
        <p:spPr>
          <a:xfrm>
            <a:off x="4688738" y="2971800"/>
            <a:ext cx="2814218" cy="45720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続けられる</a:t>
            </a:r>
            <a:endParaRPr lang="en-US" sz="1900" dirty="0"/>
          </a:p>
        </p:txBody>
      </p:sp>
      <p:sp>
        <p:nvSpPr>
          <p:cNvPr id="12" name="Text 8"/>
          <p:cNvSpPr txBox="1"/>
          <p:nvPr/>
        </p:nvSpPr>
        <p:spPr>
          <a:xfrm>
            <a:off x="4688738" y="3474720"/>
            <a:ext cx="2814218" cy="914400"/>
          </a:xfrm>
          <a:prstGeom prst="rect">
            <a:avLst/>
          </a:prstGeom>
          <a:noFill/>
          <a:ln/>
        </p:spPr>
        <p:txBody>
          <a:bodyPr wrap="square" lIns="0" tIns="0" rIns="0" bIns="0" rtlCol="0" anchor="ctr"/>
          <a:lstStyle/>
          <a:p>
            <a:pPr indent="0" marL="0">
              <a:lnSpc>
                <a:spcPts val="2000"/>
              </a:lnSpc>
              <a:buNone/>
            </a:pPr>
            <a:r>
              <a:rPr lang="en-US" sz="1250" dirty="0">
                <a:solidFill>
                  <a:srgbClr val="B7CBE6"/>
                </a:solidFill>
                <a:latin typeface="Meiryo" pitchFamily="34" charset="0"/>
                <a:ea typeface="Meiryo" pitchFamily="34" charset="-122"/>
                <a:cs typeface="Meiryo" pitchFamily="34" charset="-120"/>
              </a:rPr>
              <a:t>Googleログインだけで始められ、入力の手間が小さいので定着します。</a:t>
            </a:r>
            <a:endParaRPr lang="en-US" sz="1250" dirty="0"/>
          </a:p>
        </p:txBody>
      </p:sp>
      <p:sp>
        <p:nvSpPr>
          <p:cNvPr id="13" name="Shape 9"/>
          <p:cNvSpPr/>
          <p:nvPr/>
        </p:nvSpPr>
        <p:spPr>
          <a:xfrm>
            <a:off x="8097317" y="1828800"/>
            <a:ext cx="3454298" cy="2651760"/>
          </a:xfrm>
          <a:prstGeom prst="roundRect">
            <a:avLst>
              <a:gd name="adj" fmla="val 4138"/>
            </a:avLst>
          </a:prstGeom>
          <a:solidFill>
            <a:srgbClr val="132F55"/>
          </a:solidFill>
          <a:ln w="12700">
            <a:solidFill>
              <a:srgbClr val="1E4C82"/>
            </a:solidFill>
            <a:prstDash val="solid"/>
          </a:ln>
        </p:spPr>
      </p:sp>
      <p:sp>
        <p:nvSpPr>
          <p:cNvPr id="14" name="Shape 10"/>
          <p:cNvSpPr/>
          <p:nvPr/>
        </p:nvSpPr>
        <p:spPr>
          <a:xfrm>
            <a:off x="8417357" y="2148840"/>
            <a:ext cx="658368" cy="658368"/>
          </a:xfrm>
          <a:prstGeom prst="ellipse">
            <a:avLst/>
          </a:prstGeom>
          <a:solidFill>
            <a:srgbClr val="2A78D6"/>
          </a:solidFill>
          <a:ln w="12700">
            <a:solidFill>
              <a:srgbClr val="2A78D6"/>
            </a:solidFill>
            <a:prstDash val="solid"/>
          </a:ln>
        </p:spPr>
      </p:sp>
      <p:pic>
        <p:nvPicPr>
          <p:cNvPr id="15" name="Image 2" descr="preencoded.png">    </p:cNvPr>
          <p:cNvPicPr>
            <a:picLocks noChangeAspect="1"/>
          </p:cNvPicPr>
          <p:nvPr/>
        </p:nvPicPr>
        <p:blipFill>
          <a:blip r:embed="rId3"/>
          <a:stretch>
            <a:fillRect/>
          </a:stretch>
        </p:blipFill>
        <p:spPr>
          <a:xfrm>
            <a:off x="8581949" y="2313432"/>
            <a:ext cx="329184" cy="329184"/>
          </a:xfrm>
          <a:prstGeom prst="rect">
            <a:avLst/>
          </a:prstGeom>
        </p:spPr>
      </p:pic>
      <p:sp>
        <p:nvSpPr>
          <p:cNvPr id="16" name="Text 11"/>
          <p:cNvSpPr txBox="1"/>
          <p:nvPr/>
        </p:nvSpPr>
        <p:spPr>
          <a:xfrm>
            <a:off x="8417357" y="2971800"/>
            <a:ext cx="2814218" cy="45720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改善が残る</a:t>
            </a:r>
            <a:endParaRPr lang="en-US" sz="1900" dirty="0"/>
          </a:p>
        </p:txBody>
      </p:sp>
      <p:sp>
        <p:nvSpPr>
          <p:cNvPr id="17" name="Text 12"/>
          <p:cNvSpPr txBox="1"/>
          <p:nvPr/>
        </p:nvSpPr>
        <p:spPr>
          <a:xfrm>
            <a:off x="8417357" y="3474720"/>
            <a:ext cx="2814218" cy="914400"/>
          </a:xfrm>
          <a:prstGeom prst="rect">
            <a:avLst/>
          </a:prstGeom>
          <a:noFill/>
          <a:ln/>
        </p:spPr>
        <p:txBody>
          <a:bodyPr wrap="square" lIns="0" tIns="0" rIns="0" bIns="0" rtlCol="0" anchor="ctr"/>
          <a:lstStyle/>
          <a:p>
            <a:pPr indent="0" marL="0">
              <a:lnSpc>
                <a:spcPts val="2000"/>
              </a:lnSpc>
              <a:buNone/>
            </a:pPr>
            <a:r>
              <a:rPr lang="en-US" sz="1250" dirty="0">
                <a:solidFill>
                  <a:srgbClr val="B7CBE6"/>
                </a:solidFill>
                <a:latin typeface="Meiryo" pitchFamily="34" charset="0"/>
                <a:ea typeface="Meiryo" pitchFamily="34" charset="-122"/>
                <a:cs typeface="Meiryo" pitchFamily="34" charset="-120"/>
              </a:rPr>
              <a:t>KPT週報で学びが記録され、翌週の計画にそのまま活きます。</a:t>
            </a:r>
            <a:endParaRPr lang="en-US" sz="1250" dirty="0"/>
          </a:p>
        </p:txBody>
      </p:sp>
      <p:sp>
        <p:nvSpPr>
          <p:cNvPr id="18" name="Text 13"/>
          <p:cNvSpPr txBox="1"/>
          <p:nvPr/>
        </p:nvSpPr>
        <p:spPr>
          <a:xfrm>
            <a:off x="640080" y="4800600"/>
            <a:ext cx="10911535" cy="457200"/>
          </a:xfrm>
          <a:prstGeom prst="rect">
            <a:avLst/>
          </a:prstGeom>
          <a:noFill/>
          <a:ln/>
        </p:spPr>
        <p:txBody>
          <a:bodyPr wrap="square" lIns="0" tIns="0" rIns="0" bIns="0" rtlCol="0" anchor="ctr"/>
          <a:lstStyle/>
          <a:p>
            <a:pPr indent="0" marL="0">
              <a:buNone/>
            </a:pPr>
            <a:r>
              <a:rPr lang="en-US" sz="1400" b="1" dirty="0">
                <a:solidFill>
                  <a:srgbClr val="DBE7F5"/>
                </a:solidFill>
                <a:latin typeface="Meiryo" pitchFamily="34" charset="0"/>
                <a:ea typeface="Meiryo" pitchFamily="34" charset="-122"/>
                <a:cs typeface="Meiryo" pitchFamily="34" charset="-120"/>
              </a:rPr>
              <a:t>次のアクション：まずは1チーム・1プロジェクトから、●週間の試験運用をご提案します。</a:t>
            </a:r>
            <a:endParaRPr lang="en-US" sz="1400" dirty="0"/>
          </a:p>
        </p:txBody>
      </p:sp>
      <p:sp>
        <p:nvSpPr>
          <p:cNvPr id="19" name="Text 14"/>
          <p:cNvSpPr txBox="1"/>
          <p:nvPr/>
        </p:nvSpPr>
        <p:spPr>
          <a:xfrm>
            <a:off x="11277295" y="6291072"/>
            <a:ext cx="457200" cy="274320"/>
          </a:xfrm>
          <a:prstGeom prst="rect">
            <a:avLst/>
          </a:prstGeom>
          <a:noFill/>
          <a:ln/>
        </p:spPr>
        <p:txBody>
          <a:bodyPr wrap="square" lIns="0" tIns="0" rIns="0" bIns="0" rtlCol="0" anchor="ctr"/>
          <a:lstStyle/>
          <a:p>
            <a:pPr algn="r" indent="0" marL="0">
              <a:buNone/>
            </a:pPr>
            <a:r>
              <a:rPr lang="en-US" sz="1000" dirty="0">
                <a:solidFill>
                  <a:srgbClr val="6E86A8"/>
                </a:solidFill>
                <a:latin typeface="Meiryo" pitchFamily="34" charset="0"/>
                <a:ea typeface="Meiryo" pitchFamily="34" charset="-122"/>
                <a:cs typeface="Meiryo" pitchFamily="34" charset="-120"/>
              </a:rPr>
              <a:t>13</a:t>
            </a:r>
            <a:endParaRPr lang="en-US" sz="1000" dirty="0"/>
          </a:p>
        </p:txBody>
      </p:sp>
      <p:sp>
        <p:nvSpPr>
          <p:cNvPr id="20" name="Text 15"/>
          <p:cNvSpPr txBox="1"/>
          <p:nvPr/>
        </p:nvSpPr>
        <p:spPr>
          <a:xfrm>
            <a:off x="640080" y="6291072"/>
            <a:ext cx="1828800" cy="274320"/>
          </a:xfrm>
          <a:prstGeom prst="rect">
            <a:avLst/>
          </a:prstGeom>
          <a:noFill/>
          <a:ln/>
        </p:spPr>
        <p:txBody>
          <a:bodyPr wrap="square" lIns="0" tIns="0" rIns="0" bIns="0" rtlCol="0" anchor="ctr"/>
          <a:lstStyle/>
          <a:p>
            <a:pPr indent="0" marL="0">
              <a:buNone/>
            </a:pPr>
            <a:r>
              <a:rPr lang="en-US" sz="1000" b="1" dirty="0">
                <a:solidFill>
                  <a:srgbClr val="6E86A8"/>
                </a:solidFill>
                <a:latin typeface="Meiryo" pitchFamily="34" charset="0"/>
                <a:ea typeface="Meiryo" pitchFamily="34" charset="-122"/>
                <a:cs typeface="Meiryo" pitchFamily="34" charset="-120"/>
              </a:rPr>
              <a:t>Hittatsu</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640080" y="2011680"/>
            <a:ext cx="2743200" cy="2743200"/>
          </a:xfrm>
          <a:prstGeom prst="roundRect">
            <a:avLst>
              <a:gd name="adj" fmla="val 6667"/>
            </a:avLst>
          </a:prstGeom>
          <a:solidFill>
            <a:srgbClr val="FFFFFF"/>
          </a:solidFill>
          <a:ln w="12700">
            <a:solidFill>
              <a:srgbClr val="FFFFFF"/>
            </a:solidFill>
            <a:prstDash val="solid"/>
          </a:ln>
        </p:spPr>
      </p:sp>
      <p:pic>
        <p:nvPicPr>
          <p:cNvPr id="3" name="Image 0" descr="/tmp/claude-0/-home-claude/c8a85aae-e364-55a6-a691-56cfb36bc444/scratchpad/hittatsu-deck/Hittatsu_Logo.png">    </p:cNvPr>
          <p:cNvPicPr>
            <a:picLocks noChangeAspect="1"/>
          </p:cNvPicPr>
          <p:nvPr/>
        </p:nvPicPr>
        <p:blipFill>
          <a:blip r:embed="rId1"/>
          <a:stretch>
            <a:fillRect/>
          </a:stretch>
        </p:blipFill>
        <p:spPr>
          <a:xfrm>
            <a:off x="868680" y="3063240"/>
            <a:ext cx="2286000" cy="731520"/>
          </a:xfrm>
          <a:prstGeom prst="rect">
            <a:avLst/>
          </a:prstGeom>
        </p:spPr>
      </p:pic>
      <p:sp>
        <p:nvSpPr>
          <p:cNvPr id="4" name="Text 1"/>
          <p:cNvSpPr txBox="1"/>
          <p:nvPr/>
        </p:nvSpPr>
        <p:spPr>
          <a:xfrm>
            <a:off x="4023360" y="2148840"/>
            <a:ext cx="749808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お問い合わせ</a:t>
            </a:r>
            <a:endParaRPr lang="en-US" sz="3000" dirty="0"/>
          </a:p>
        </p:txBody>
      </p:sp>
      <p:sp>
        <p:nvSpPr>
          <p:cNvPr id="5" name="Text 2"/>
          <p:cNvSpPr txBox="1"/>
          <p:nvPr/>
        </p:nvSpPr>
        <p:spPr>
          <a:xfrm>
            <a:off x="4023360" y="2880360"/>
            <a:ext cx="7498080" cy="1828800"/>
          </a:xfrm>
          <a:prstGeom prst="rect">
            <a:avLst/>
          </a:prstGeom>
          <a:noFill/>
          <a:ln/>
        </p:spPr>
        <p:txBody>
          <a:bodyPr wrap="square" lIns="0" tIns="0" rIns="0" bIns="0" rtlCol="0" anchor="ctr"/>
          <a:lstStyle/>
          <a:p>
            <a:pPr indent="0" marL="0">
              <a:lnSpc>
                <a:spcPts val="2600"/>
              </a:lnSpc>
              <a:buNone/>
            </a:pPr>
            <a:r>
              <a:rPr lang="en-US" sz="1600" b="1" dirty="0">
                <a:solidFill>
                  <a:srgbClr val="DBE7F5"/>
                </a:solidFill>
                <a:latin typeface="Meiryo" pitchFamily="34" charset="0"/>
                <a:ea typeface="Meiryo" pitchFamily="34" charset="-122"/>
                <a:cs typeface="Meiryo" pitchFamily="34" charset="-120"/>
              </a:rPr>
              <a:t>株式会社エアモア　Hittatsu 担当</a:t>
            </a:r>
            <a:endParaRPr lang="en-US" sz="1400" dirty="0"/>
          </a:p>
          <a:p>
            <a:pPr indent="0" marL="0">
              <a:lnSpc>
                <a:spcPts val="2600"/>
              </a:lnSpc>
              <a:buNone/>
            </a:pPr>
            <a:r>
              <a:rPr lang="en-US" sz="1400" dirty="0">
                <a:solidFill>
                  <a:srgbClr val="DBE7F5"/>
                </a:solidFill>
                <a:latin typeface="Meiryo" pitchFamily="34" charset="0"/>
                <a:ea typeface="Meiryo" pitchFamily="34" charset="-122"/>
                <a:cs typeface="Meiryo" pitchFamily="34" charset="-120"/>
              </a:rPr>
              <a:t>〒●●●-●●●●　（住所を記入）</a:t>
            </a:r>
            <a:endParaRPr lang="en-US" sz="1400" dirty="0"/>
          </a:p>
          <a:p>
            <a:pPr indent="0" marL="0">
              <a:lnSpc>
                <a:spcPts val="2600"/>
              </a:lnSpc>
              <a:buNone/>
            </a:pPr>
            <a:r>
              <a:rPr lang="en-US" sz="1400" dirty="0">
                <a:solidFill>
                  <a:srgbClr val="DBE7F5"/>
                </a:solidFill>
                <a:latin typeface="Meiryo" pitchFamily="34" charset="0"/>
                <a:ea typeface="Meiryo" pitchFamily="34" charset="-122"/>
                <a:cs typeface="Meiryo" pitchFamily="34" charset="-120"/>
              </a:rPr>
              <a:t>TEL：●●-●●●●-●●●●</a:t>
            </a:r>
            <a:endParaRPr lang="en-US" sz="1400" dirty="0"/>
          </a:p>
          <a:p>
            <a:pPr indent="0" marL="0">
              <a:lnSpc>
                <a:spcPts val="2600"/>
              </a:lnSpc>
              <a:buNone/>
            </a:pPr>
            <a:r>
              <a:rPr lang="en-US" sz="1400" dirty="0">
                <a:solidFill>
                  <a:srgbClr val="DBE7F5"/>
                </a:solidFill>
                <a:latin typeface="Meiryo" pitchFamily="34" charset="0"/>
                <a:ea typeface="Meiryo" pitchFamily="34" charset="-122"/>
                <a:cs typeface="Meiryo" pitchFamily="34" charset="-120"/>
              </a:rPr>
              <a:t>Mail：（メールアドレスを記入）</a:t>
            </a:r>
            <a:endParaRPr lang="en-US" sz="1400" dirty="0"/>
          </a:p>
          <a:p>
            <a:pPr indent="0" marL="0">
              <a:lnSpc>
                <a:spcPts val="2600"/>
              </a:lnSpc>
              <a:buNone/>
            </a:pPr>
            <a:r>
              <a:rPr lang="en-US" sz="1400" dirty="0">
                <a:solidFill>
                  <a:srgbClr val="DBE7F5"/>
                </a:solidFill>
                <a:latin typeface="Meiryo" pitchFamily="34" charset="0"/>
                <a:ea typeface="Meiryo" pitchFamily="34" charset="-122"/>
                <a:cs typeface="Meiryo" pitchFamily="34" charset="-120"/>
              </a:rPr>
              <a:t>URL：（サービスサイトURLを記入）</a:t>
            </a:r>
            <a:endParaRPr lang="en-US" sz="1400" dirty="0"/>
          </a:p>
        </p:txBody>
      </p:sp>
      <p:pic>
        <p:nvPicPr>
          <p:cNvPr id="6" name="Image 1" descr="/tmp/claude-0/-home-claude/c8a85aae-e364-55a6-a691-56cfb36bc444/scratchpad/hittatsu-deck/airmore-logo-white.png">    </p:cNvPr>
          <p:cNvPicPr>
            <a:picLocks noChangeAspect="1"/>
          </p:cNvPicPr>
          <p:nvPr/>
        </p:nvPicPr>
        <p:blipFill>
          <a:blip r:embed="rId2"/>
          <a:stretch>
            <a:fillRect/>
          </a:stretch>
        </p:blipFill>
        <p:spPr>
          <a:xfrm>
            <a:off x="9814255" y="5897880"/>
            <a:ext cx="1737360" cy="3840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株式会社エアモア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Hittatsu 紹介・提案資料テンプレート</dc:title>
  <dc:subject>PptxGenJS Presentation</dc:subject>
  <dc:creator>株式会社エアモア</dc:creator>
  <cp:lastModifiedBy>株式会社エアモア</cp:lastModifiedBy>
  <cp:revision>1</cp:revision>
  <dcterms:created xsi:type="dcterms:W3CDTF">2026-09-05T00:07:06Z</dcterms:created>
  <dcterms:modified xsi:type="dcterms:W3CDTF">2026-09-05T00:07:06Z</dcterms:modified>
</cp:coreProperties>
</file>